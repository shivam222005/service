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evaluators and committee members. Today I am presenting ServiceHub India, an on-demand services marketplace engineered specifically to bridge the severe gap between metropolitan service apps and rural agricultural service requirements, featuring an authoritative emergency safety triage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analyzing the Indian service ecosystem, we uncovered two massive blind spots: first, rural farmers and tier-3 residents are completely ignored for high-value machinery repairs; second, during household disasters like gas leaks, existing apps try to collect credit card info rather than displaying life-saving evacuation protocols.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ServiceHub resolves this through dual-sector parity. We give equal engineering weight to rural agricultural mechanics as we do to urban AC repair technicians, complete with verified credentials, fair fixed pricing, and emergency assistance.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safety-first emergency architecture. If a user suspects a gas leak, the app immediately locks the screen onto emergency helpline 1906 and safety instructions. Only after reviewing these protocols can they optionally request an emergency marketplace technician, avoiding false responder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booking system uses a strict state machine implemented in SQLite with atomic transactions. When a customer books a service, the provider receives an instantaneous alert. Provider acceptance immediately triggers a live state update on the customer screen without requiring a page reload.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enforced through Role-Based Access Control. Customers can only view their own bookings, providers can only inspect and act on requests addressed to them, and admins have supervisory controls over provider onboarding, document verification, and unresolved emergencies.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technical stack. On the frontend, we use React 19 with TypeScript and Tailwind CSS v4 for zero-runtime responsive rendering. On the backend, Node.js with Express handles authenticated API traffic, backed by Better-SQLite3 operating in Write-Ahead-Logging mode for atomic data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database design includes eight normalized tables. Notice the separation between base users and provider profiles, allowing technicians to upload verification documents, and the dedicated emergency_requests table that preserves detailed hazard descriptions and location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conducted thorough testing covering safety-first emergency flows, real-time booking dispatch, and security boundaries. All tests passed, proving the platform is resilient against race conditions, unauthorized state tampering, and network dropouts.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live evaluation, we have pre-seeded three realistic accounts that can be switched with one click using the top demo ribbon. Evaluators can experience the full booking and emergency lifecycle from each perspective.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forward, our roadmap includes UPI split payments, multilingual voice interfaces powered by Bhashini AI to support regional languages, and SMS fallback for deep rural areas without internet 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ServiceHub India demonstrates how modern full-stack web engineering can address both commercial market inefficiencies and critical public safety challenges. Thank you, and we welcome your questions and the live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PROJECT DEFENSE &amp; OVERVIEW</a:t>
            </a:r>
            <a:endParaRPr lang="en-US" sz="1000" dirty="0"/>
          </a:p>
        </p:txBody>
      </p:sp>
      <p:sp>
        <p:nvSpPr>
          <p:cNvPr id="4" name="Text 2"/>
          <p:cNvSpPr/>
          <p:nvPr/>
        </p:nvSpPr>
        <p:spPr>
          <a:xfrm>
            <a:off x="731520" y="640080"/>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ServiceHub India</a:t>
            </a:r>
            <a:endParaRPr lang="en-US" sz="2200" dirty="0"/>
          </a:p>
        </p:txBody>
      </p:sp>
      <p:sp>
        <p:nvSpPr>
          <p:cNvPr id="5" name="Text 3"/>
          <p:cNvSpPr/>
          <p:nvPr/>
        </p:nvSpPr>
        <p:spPr>
          <a:xfrm>
            <a:off x="731520" y="1188720"/>
            <a:ext cx="1051560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Hyperlocal &amp; Rural On-Demand Services Marketplace with Safety-First Emergency Triage &amp; Real-Time Dispatch</a:t>
            </a:r>
            <a:endParaRPr lang="en-US" sz="1200" dirty="0"/>
          </a:p>
        </p:txBody>
      </p:sp>
      <p:sp>
        <p:nvSpPr>
          <p:cNvPr id="6" name="Shape 4"/>
          <p:cNvSpPr/>
          <p:nvPr/>
        </p:nvSpPr>
        <p:spPr>
          <a:xfrm>
            <a:off x="731520" y="1645920"/>
            <a:ext cx="10698480" cy="0"/>
          </a:xfrm>
          <a:prstGeom prst="line">
            <a:avLst/>
          </a:prstGeom>
          <a:noFill/>
          <a:ln w="19050">
            <a:solidFill>
              <a:srgbClr val="E2E8F0"/>
            </a:solidFill>
            <a:prstDash val="solid"/>
          </a:ln>
        </p:spPr>
      </p:sp>
      <p:sp>
        <p:nvSpPr>
          <p:cNvPr id="7" name="Shape 5"/>
          <p:cNvSpPr/>
          <p:nvPr/>
        </p:nvSpPr>
        <p:spPr>
          <a:xfrm>
            <a:off x="731520" y="1920240"/>
            <a:ext cx="10698480" cy="777240"/>
          </a:xfrm>
          <a:prstGeom prst="roundRect">
            <a:avLst>
              <a:gd name="adj" fmla="val 9412"/>
            </a:avLst>
          </a:prstGeom>
          <a:solidFill>
            <a:srgbClr val="FFFFFF"/>
          </a:solidFill>
          <a:ln w="12700">
            <a:solidFill>
              <a:srgbClr val="E2E8F0"/>
            </a:solidFill>
            <a:prstDash val="solid"/>
          </a:ln>
        </p:spPr>
      </p:sp>
      <p:sp>
        <p:nvSpPr>
          <p:cNvPr id="8" name="Shape 6"/>
          <p:cNvSpPr/>
          <p:nvPr/>
        </p:nvSpPr>
        <p:spPr>
          <a:xfrm>
            <a:off x="914400" y="2212848"/>
            <a:ext cx="137160" cy="137160"/>
          </a:xfrm>
          <a:prstGeom prst="ellipse">
            <a:avLst/>
          </a:prstGeom>
          <a:solidFill>
            <a:srgbClr val="2563EB"/>
          </a:solidFill>
          <a:ln/>
        </p:spPr>
      </p:sp>
      <p:sp>
        <p:nvSpPr>
          <p:cNvPr id="9" name="Text 7"/>
          <p:cNvSpPr/>
          <p:nvPr/>
        </p:nvSpPr>
        <p:spPr>
          <a:xfrm>
            <a:off x="1143000" y="1993392"/>
            <a:ext cx="101955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Full-Stack Capstone Engineering Project</a:t>
            </a:r>
            <a:endParaRPr lang="en-US" sz="1100" dirty="0"/>
          </a:p>
        </p:txBody>
      </p:sp>
      <p:sp>
        <p:nvSpPr>
          <p:cNvPr id="10" name="Shape 8"/>
          <p:cNvSpPr/>
          <p:nvPr/>
        </p:nvSpPr>
        <p:spPr>
          <a:xfrm>
            <a:off x="731520" y="2816352"/>
            <a:ext cx="10698480" cy="777240"/>
          </a:xfrm>
          <a:prstGeom prst="roundRect">
            <a:avLst>
              <a:gd name="adj" fmla="val 9412"/>
            </a:avLst>
          </a:prstGeom>
          <a:solidFill>
            <a:srgbClr val="FFFFFF"/>
          </a:solidFill>
          <a:ln w="12700">
            <a:solidFill>
              <a:srgbClr val="E2E8F0"/>
            </a:solidFill>
            <a:prstDash val="solid"/>
          </a:ln>
        </p:spPr>
      </p:sp>
      <p:sp>
        <p:nvSpPr>
          <p:cNvPr id="11" name="Shape 9"/>
          <p:cNvSpPr/>
          <p:nvPr/>
        </p:nvSpPr>
        <p:spPr>
          <a:xfrm>
            <a:off x="914400" y="3108960"/>
            <a:ext cx="137160" cy="137160"/>
          </a:xfrm>
          <a:prstGeom prst="ellipse">
            <a:avLst/>
          </a:prstGeom>
          <a:solidFill>
            <a:srgbClr val="2563EB"/>
          </a:solidFill>
          <a:ln/>
        </p:spPr>
      </p:sp>
      <p:sp>
        <p:nvSpPr>
          <p:cNvPr id="12" name="Text 10"/>
          <p:cNvSpPr/>
          <p:nvPr/>
        </p:nvSpPr>
        <p:spPr>
          <a:xfrm>
            <a:off x="1143000" y="2889504"/>
            <a:ext cx="101955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Dual-Sector Architecture: Urban Home Services + Rural Agricultural Mechanization</a:t>
            </a:r>
            <a:endParaRPr lang="en-US" sz="1100" dirty="0"/>
          </a:p>
        </p:txBody>
      </p:sp>
      <p:sp>
        <p:nvSpPr>
          <p:cNvPr id="13" name="Shape 11"/>
          <p:cNvSpPr/>
          <p:nvPr/>
        </p:nvSpPr>
        <p:spPr>
          <a:xfrm>
            <a:off x="731520" y="3712464"/>
            <a:ext cx="10698480" cy="777240"/>
          </a:xfrm>
          <a:prstGeom prst="roundRect">
            <a:avLst>
              <a:gd name="adj" fmla="val 9412"/>
            </a:avLst>
          </a:prstGeom>
          <a:solidFill>
            <a:srgbClr val="FFFFFF"/>
          </a:solidFill>
          <a:ln w="12700">
            <a:solidFill>
              <a:srgbClr val="E2E8F0"/>
            </a:solidFill>
            <a:prstDash val="solid"/>
          </a:ln>
        </p:spPr>
      </p:sp>
      <p:sp>
        <p:nvSpPr>
          <p:cNvPr id="14" name="Shape 12"/>
          <p:cNvSpPr/>
          <p:nvPr/>
        </p:nvSpPr>
        <p:spPr>
          <a:xfrm>
            <a:off x="914400" y="4005072"/>
            <a:ext cx="137160" cy="137160"/>
          </a:xfrm>
          <a:prstGeom prst="ellipse">
            <a:avLst/>
          </a:prstGeom>
          <a:solidFill>
            <a:srgbClr val="2563EB"/>
          </a:solidFill>
          <a:ln/>
        </p:spPr>
      </p:sp>
      <p:sp>
        <p:nvSpPr>
          <p:cNvPr id="15" name="Text 13"/>
          <p:cNvSpPr/>
          <p:nvPr/>
        </p:nvSpPr>
        <p:spPr>
          <a:xfrm>
            <a:off x="1143000" y="3785616"/>
            <a:ext cx="101955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Zero-Barrier Safety-First Emergency Portal (Gas Leakage 1906, Electrical Sparking, Flood)</a:t>
            </a:r>
            <a:endParaRPr lang="en-US" sz="1100" dirty="0"/>
          </a:p>
        </p:txBody>
      </p:sp>
      <p:sp>
        <p:nvSpPr>
          <p:cNvPr id="16" name="Shape 14"/>
          <p:cNvSpPr/>
          <p:nvPr/>
        </p:nvSpPr>
        <p:spPr>
          <a:xfrm>
            <a:off x="731520" y="4608576"/>
            <a:ext cx="10698480" cy="777240"/>
          </a:xfrm>
          <a:prstGeom prst="roundRect">
            <a:avLst>
              <a:gd name="adj" fmla="val 9412"/>
            </a:avLst>
          </a:prstGeom>
          <a:solidFill>
            <a:srgbClr val="FFFFFF"/>
          </a:solidFill>
          <a:ln w="12700">
            <a:solidFill>
              <a:srgbClr val="E2E8F0"/>
            </a:solidFill>
            <a:prstDash val="solid"/>
          </a:ln>
        </p:spPr>
      </p:sp>
      <p:sp>
        <p:nvSpPr>
          <p:cNvPr id="17" name="Shape 15"/>
          <p:cNvSpPr/>
          <p:nvPr/>
        </p:nvSpPr>
        <p:spPr>
          <a:xfrm>
            <a:off x="914400" y="4901184"/>
            <a:ext cx="137160" cy="137160"/>
          </a:xfrm>
          <a:prstGeom prst="ellipse">
            <a:avLst/>
          </a:prstGeom>
          <a:solidFill>
            <a:srgbClr val="2563EB"/>
          </a:solidFill>
          <a:ln/>
        </p:spPr>
      </p:sp>
      <p:sp>
        <p:nvSpPr>
          <p:cNvPr id="18" name="Text 16"/>
          <p:cNvSpPr/>
          <p:nvPr/>
        </p:nvSpPr>
        <p:spPr>
          <a:xfrm>
            <a:off x="1143000" y="4681728"/>
            <a:ext cx="101955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Enterprise Multi-Role Access Control (Customer, Aadhaar-Verified Pro, Platform Admin)</a:t>
            </a:r>
            <a:endParaRPr lang="en-US" sz="1100" dirty="0"/>
          </a:p>
        </p:txBody>
      </p:sp>
      <p:sp>
        <p:nvSpPr>
          <p:cNvPr id="19" name="Shape 17"/>
          <p:cNvSpPr/>
          <p:nvPr/>
        </p:nvSpPr>
        <p:spPr>
          <a:xfrm>
            <a:off x="731520" y="5486400"/>
            <a:ext cx="10698480" cy="594360"/>
          </a:xfrm>
          <a:prstGeom prst="roundRect">
            <a:avLst>
              <a:gd name="adj" fmla="val 12308"/>
            </a:avLst>
          </a:prstGeom>
          <a:solidFill>
            <a:srgbClr val="0F172A"/>
          </a:solidFill>
          <a:ln/>
        </p:spPr>
      </p:sp>
      <p:sp>
        <p:nvSpPr>
          <p:cNvPr id="20" name="Text 18"/>
          <p:cNvSpPr/>
          <p:nvPr/>
        </p:nvSpPr>
        <p:spPr>
          <a:xfrm>
            <a:off x="914400" y="5486400"/>
            <a:ext cx="10332720" cy="5943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Tech Stack: React 19, TypeScript, Tailwind CSS v4, Express, SQLite WAL Mode, Real-Time WebSockets</a:t>
            </a:r>
            <a:endParaRPr lang="en-US" sz="1100" dirty="0"/>
          </a:p>
        </p:txBody>
      </p:sp>
      <p:sp>
        <p:nvSpPr>
          <p:cNvPr id="21" name="Text 19"/>
          <p:cNvSpPr/>
          <p:nvPr/>
        </p:nvSpPr>
        <p:spPr>
          <a:xfrm>
            <a:off x="731520" y="640080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ServiceHub India · Capstone Project · Slide 1 of 12</a:t>
            </a:r>
            <a:endParaRPr lang="en-US" sz="900" dirty="0"/>
          </a:p>
        </p:txBody>
      </p:sp>
      <p:sp>
        <p:nvSpPr>
          <p:cNvPr id="22" name="Text 20"/>
          <p:cNvSpPr/>
          <p:nvPr/>
        </p:nvSpPr>
        <p:spPr>
          <a:xfrm>
            <a:off x="8046720" y="6400800"/>
            <a:ext cx="33832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Academic Evaluation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PROBLEM STATEMENT</a:t>
            </a:r>
            <a:endParaRPr lang="en-US" sz="1000" dirty="0"/>
          </a:p>
        </p:txBody>
      </p:sp>
      <p:sp>
        <p:nvSpPr>
          <p:cNvPr id="4" name="Text 2"/>
          <p:cNvSpPr/>
          <p:nvPr/>
        </p:nvSpPr>
        <p:spPr>
          <a:xfrm>
            <a:off x="731520" y="640080"/>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Market Fragmentation &amp; Safety Gaps</a:t>
            </a:r>
            <a:endParaRPr lang="en-US" sz="2200" dirty="0"/>
          </a:p>
        </p:txBody>
      </p:sp>
      <p:sp>
        <p:nvSpPr>
          <p:cNvPr id="5" name="Text 3"/>
          <p:cNvSpPr/>
          <p:nvPr/>
        </p:nvSpPr>
        <p:spPr>
          <a:xfrm>
            <a:off x="731520" y="1188720"/>
            <a:ext cx="1051560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Why Conventional Platforms Fail Tier-2/3 Towns, Villages, and Urgent Home Emergencies</a:t>
            </a:r>
            <a:endParaRPr lang="en-US" sz="1200" dirty="0"/>
          </a:p>
        </p:txBody>
      </p:sp>
      <p:sp>
        <p:nvSpPr>
          <p:cNvPr id="6" name="Shape 4"/>
          <p:cNvSpPr/>
          <p:nvPr/>
        </p:nvSpPr>
        <p:spPr>
          <a:xfrm>
            <a:off x="731520" y="1645920"/>
            <a:ext cx="10698480" cy="0"/>
          </a:xfrm>
          <a:prstGeom prst="line">
            <a:avLst/>
          </a:prstGeom>
          <a:noFill/>
          <a:ln w="19050">
            <a:solidFill>
              <a:srgbClr val="E2E8F0"/>
            </a:solidFill>
            <a:prstDash val="solid"/>
          </a:ln>
        </p:spPr>
      </p:sp>
      <p:sp>
        <p:nvSpPr>
          <p:cNvPr id="7" name="Shape 5"/>
          <p:cNvSpPr/>
          <p:nvPr/>
        </p:nvSpPr>
        <p:spPr>
          <a:xfrm>
            <a:off x="731520" y="1920240"/>
            <a:ext cx="5669280" cy="777240"/>
          </a:xfrm>
          <a:prstGeom prst="roundRect">
            <a:avLst>
              <a:gd name="adj" fmla="val 9412"/>
            </a:avLst>
          </a:prstGeom>
          <a:solidFill>
            <a:srgbClr val="FFFFFF"/>
          </a:solidFill>
          <a:ln w="12700">
            <a:solidFill>
              <a:srgbClr val="E2E8F0"/>
            </a:solidFill>
            <a:prstDash val="solid"/>
          </a:ln>
        </p:spPr>
      </p:sp>
      <p:sp>
        <p:nvSpPr>
          <p:cNvPr id="8" name="Shape 6"/>
          <p:cNvSpPr/>
          <p:nvPr/>
        </p:nvSpPr>
        <p:spPr>
          <a:xfrm>
            <a:off x="914400" y="2212848"/>
            <a:ext cx="137160" cy="137160"/>
          </a:xfrm>
          <a:prstGeom prst="ellipse">
            <a:avLst/>
          </a:prstGeom>
          <a:solidFill>
            <a:srgbClr val="2563EB"/>
          </a:solidFill>
          <a:ln/>
        </p:spPr>
      </p:sp>
      <p:sp>
        <p:nvSpPr>
          <p:cNvPr id="9" name="Text 7"/>
          <p:cNvSpPr/>
          <p:nvPr/>
        </p:nvSpPr>
        <p:spPr>
          <a:xfrm>
            <a:off x="1143000" y="1993392"/>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Urban Disconnect: Existing corporate platforms charge up to 25-30% provider commissions, leading to high prices and service worker discontent.</a:t>
            </a:r>
            <a:endParaRPr lang="en-US" sz="1100" dirty="0"/>
          </a:p>
        </p:txBody>
      </p:sp>
      <p:sp>
        <p:nvSpPr>
          <p:cNvPr id="10" name="Shape 8"/>
          <p:cNvSpPr/>
          <p:nvPr/>
        </p:nvSpPr>
        <p:spPr>
          <a:xfrm>
            <a:off x="731520" y="2816352"/>
            <a:ext cx="5669280" cy="777240"/>
          </a:xfrm>
          <a:prstGeom prst="roundRect">
            <a:avLst>
              <a:gd name="adj" fmla="val 9412"/>
            </a:avLst>
          </a:prstGeom>
          <a:solidFill>
            <a:srgbClr val="FFFFFF"/>
          </a:solidFill>
          <a:ln w="12700">
            <a:solidFill>
              <a:srgbClr val="E2E8F0"/>
            </a:solidFill>
            <a:prstDash val="solid"/>
          </a:ln>
        </p:spPr>
      </p:sp>
      <p:sp>
        <p:nvSpPr>
          <p:cNvPr id="11" name="Shape 9"/>
          <p:cNvSpPr/>
          <p:nvPr/>
        </p:nvSpPr>
        <p:spPr>
          <a:xfrm>
            <a:off x="914400" y="3108960"/>
            <a:ext cx="137160" cy="137160"/>
          </a:xfrm>
          <a:prstGeom prst="ellipse">
            <a:avLst/>
          </a:prstGeom>
          <a:solidFill>
            <a:srgbClr val="2563EB"/>
          </a:solidFill>
          <a:ln/>
        </p:spPr>
      </p:sp>
      <p:sp>
        <p:nvSpPr>
          <p:cNvPr id="12" name="Text 10"/>
          <p:cNvSpPr/>
          <p:nvPr/>
        </p:nvSpPr>
        <p:spPr>
          <a:xfrm>
            <a:off x="1143000" y="2889504"/>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Rural Exclusion: Zero major platforms support agricultural equipment (combine harvesters, solar borewell pumps, tractor hydraulics, drip irrigation systems).</a:t>
            </a:r>
            <a:endParaRPr lang="en-US" sz="1100" dirty="0"/>
          </a:p>
        </p:txBody>
      </p:sp>
      <p:sp>
        <p:nvSpPr>
          <p:cNvPr id="13" name="Shape 11"/>
          <p:cNvSpPr/>
          <p:nvPr/>
        </p:nvSpPr>
        <p:spPr>
          <a:xfrm>
            <a:off x="731520" y="3712464"/>
            <a:ext cx="5669280" cy="777240"/>
          </a:xfrm>
          <a:prstGeom prst="roundRect">
            <a:avLst>
              <a:gd name="adj" fmla="val 9412"/>
            </a:avLst>
          </a:prstGeom>
          <a:solidFill>
            <a:srgbClr val="FFFFFF"/>
          </a:solidFill>
          <a:ln w="12700">
            <a:solidFill>
              <a:srgbClr val="E2E8F0"/>
            </a:solidFill>
            <a:prstDash val="solid"/>
          </a:ln>
        </p:spPr>
      </p:sp>
      <p:sp>
        <p:nvSpPr>
          <p:cNvPr id="14" name="Shape 12"/>
          <p:cNvSpPr/>
          <p:nvPr/>
        </p:nvSpPr>
        <p:spPr>
          <a:xfrm>
            <a:off x="914400" y="4005072"/>
            <a:ext cx="137160" cy="137160"/>
          </a:xfrm>
          <a:prstGeom prst="ellipse">
            <a:avLst/>
          </a:prstGeom>
          <a:solidFill>
            <a:srgbClr val="2563EB"/>
          </a:solidFill>
          <a:ln/>
        </p:spPr>
      </p:sp>
      <p:sp>
        <p:nvSpPr>
          <p:cNvPr id="15" name="Text 13"/>
          <p:cNvSpPr/>
          <p:nvPr/>
        </p:nvSpPr>
        <p:spPr>
          <a:xfrm>
            <a:off x="1143000" y="3785616"/>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Hazardous Emergency Handling: Generic booking apps treat a gas leak or electrical sparking like routine chores, risking human life by prioritizing booking over evacuation.</a:t>
            </a:r>
            <a:endParaRPr lang="en-US" sz="1100" dirty="0"/>
          </a:p>
        </p:txBody>
      </p:sp>
      <p:sp>
        <p:nvSpPr>
          <p:cNvPr id="16" name="Shape 14"/>
          <p:cNvSpPr/>
          <p:nvPr/>
        </p:nvSpPr>
        <p:spPr>
          <a:xfrm>
            <a:off x="731520" y="4608576"/>
            <a:ext cx="5669280" cy="777240"/>
          </a:xfrm>
          <a:prstGeom prst="roundRect">
            <a:avLst>
              <a:gd name="adj" fmla="val 9412"/>
            </a:avLst>
          </a:prstGeom>
          <a:solidFill>
            <a:srgbClr val="FFFFFF"/>
          </a:solidFill>
          <a:ln w="12700">
            <a:solidFill>
              <a:srgbClr val="E2E8F0"/>
            </a:solidFill>
            <a:prstDash val="solid"/>
          </a:ln>
        </p:spPr>
      </p:sp>
      <p:sp>
        <p:nvSpPr>
          <p:cNvPr id="17" name="Shape 15"/>
          <p:cNvSpPr/>
          <p:nvPr/>
        </p:nvSpPr>
        <p:spPr>
          <a:xfrm>
            <a:off x="914400" y="4901184"/>
            <a:ext cx="137160" cy="137160"/>
          </a:xfrm>
          <a:prstGeom prst="ellipse">
            <a:avLst/>
          </a:prstGeom>
          <a:solidFill>
            <a:srgbClr val="2563EB"/>
          </a:solidFill>
          <a:ln/>
        </p:spPr>
      </p:sp>
      <p:sp>
        <p:nvSpPr>
          <p:cNvPr id="18" name="Text 16"/>
          <p:cNvSpPr/>
          <p:nvPr/>
        </p:nvSpPr>
        <p:spPr>
          <a:xfrm>
            <a:off x="1143000" y="4681728"/>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Trust &amp; Verification Vacuum: Unvetted local handymen lack verified trade licenses or background checks, creating consumer reluctance.</a:t>
            </a:r>
            <a:endParaRPr lang="en-US" sz="1100" dirty="0"/>
          </a:p>
        </p:txBody>
      </p:sp>
      <p:sp>
        <p:nvSpPr>
          <p:cNvPr id="19" name="Shape 17"/>
          <p:cNvSpPr/>
          <p:nvPr/>
        </p:nvSpPr>
        <p:spPr>
          <a:xfrm>
            <a:off x="6675120" y="1920240"/>
            <a:ext cx="4754880" cy="1097280"/>
          </a:xfrm>
          <a:prstGeom prst="roundRect">
            <a:avLst>
              <a:gd name="adj" fmla="val 6667"/>
            </a:avLst>
          </a:prstGeom>
          <a:solidFill>
            <a:srgbClr val="FFFFFF"/>
          </a:solidFill>
          <a:ln w="19050">
            <a:solidFill>
              <a:srgbClr val="CBD5E1"/>
            </a:solidFill>
            <a:prstDash val="solid"/>
          </a:ln>
        </p:spPr>
      </p:sp>
      <p:sp>
        <p:nvSpPr>
          <p:cNvPr id="20" name="Text 18"/>
          <p:cNvSpPr/>
          <p:nvPr/>
        </p:nvSpPr>
        <p:spPr>
          <a:xfrm>
            <a:off x="6858000" y="2011680"/>
            <a:ext cx="4389120" cy="32004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70% Rural Population</a:t>
            </a:r>
            <a:endParaRPr lang="en-US" sz="1100" dirty="0"/>
          </a:p>
        </p:txBody>
      </p:sp>
      <p:sp>
        <p:nvSpPr>
          <p:cNvPr id="21" name="Text 19"/>
          <p:cNvSpPr/>
          <p:nvPr/>
        </p:nvSpPr>
        <p:spPr>
          <a:xfrm>
            <a:off x="6858000" y="233172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Over 800M people dependent on unorganized local mechanics with no guaranteed pricing or verification.</a:t>
            </a:r>
            <a:endParaRPr lang="en-US" sz="1000" dirty="0"/>
          </a:p>
        </p:txBody>
      </p:sp>
      <p:sp>
        <p:nvSpPr>
          <p:cNvPr id="22" name="Shape 20"/>
          <p:cNvSpPr/>
          <p:nvPr/>
        </p:nvSpPr>
        <p:spPr>
          <a:xfrm>
            <a:off x="6675120" y="3246120"/>
            <a:ext cx="4754880" cy="1097280"/>
          </a:xfrm>
          <a:prstGeom prst="roundRect">
            <a:avLst>
              <a:gd name="adj" fmla="val 6667"/>
            </a:avLst>
          </a:prstGeom>
          <a:solidFill>
            <a:srgbClr val="FEF2F2"/>
          </a:solidFill>
          <a:ln w="19050">
            <a:solidFill>
              <a:srgbClr val="FCA5A5"/>
            </a:solidFill>
            <a:prstDash val="solid"/>
          </a:ln>
        </p:spPr>
      </p:sp>
      <p:sp>
        <p:nvSpPr>
          <p:cNvPr id="23" name="Text 21"/>
          <p:cNvSpPr/>
          <p:nvPr/>
        </p:nvSpPr>
        <p:spPr>
          <a:xfrm>
            <a:off x="6858000" y="3337560"/>
            <a:ext cx="4389120" cy="320040"/>
          </a:xfrm>
          <a:prstGeom prst="rect">
            <a:avLst/>
          </a:prstGeom>
          <a:noFill/>
          <a:ln/>
        </p:spPr>
        <p:txBody>
          <a:bodyPr wrap="square" rtlCol="0" anchor="ctr"/>
          <a:lstStyle/>
          <a:p>
            <a:pPr indent="0" marL="0">
              <a:buNone/>
            </a:pPr>
            <a:r>
              <a:rPr lang="en-US" sz="1100" b="1" dirty="0">
                <a:solidFill>
                  <a:srgbClr val="DC2626"/>
                </a:solidFill>
                <a:latin typeface="Arial" pitchFamily="34" charset="0"/>
                <a:ea typeface="Arial" pitchFamily="34" charset="-122"/>
                <a:cs typeface="Arial" pitchFamily="34" charset="-120"/>
              </a:rPr>
              <a:t>Safety Hazard Delays</a:t>
            </a:r>
            <a:endParaRPr lang="en-US" sz="1100" dirty="0"/>
          </a:p>
        </p:txBody>
      </p:sp>
      <p:sp>
        <p:nvSpPr>
          <p:cNvPr id="24" name="Text 22"/>
          <p:cNvSpPr/>
          <p:nvPr/>
        </p:nvSpPr>
        <p:spPr>
          <a:xfrm>
            <a:off x="6858000" y="365760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Average 45+ minutes lost during gas leaks when users are forced through payment/login funnels.</a:t>
            </a:r>
            <a:endParaRPr lang="en-US" sz="1000" dirty="0"/>
          </a:p>
        </p:txBody>
      </p:sp>
      <p:sp>
        <p:nvSpPr>
          <p:cNvPr id="25" name="Shape 23"/>
          <p:cNvSpPr/>
          <p:nvPr/>
        </p:nvSpPr>
        <p:spPr>
          <a:xfrm>
            <a:off x="6675120" y="4572000"/>
            <a:ext cx="4754880" cy="1097280"/>
          </a:xfrm>
          <a:prstGeom prst="roundRect">
            <a:avLst>
              <a:gd name="adj" fmla="val 6667"/>
            </a:avLst>
          </a:prstGeom>
          <a:solidFill>
            <a:srgbClr val="FFFBEB"/>
          </a:solidFill>
          <a:ln w="19050">
            <a:solidFill>
              <a:srgbClr val="FDE68A"/>
            </a:solidFill>
            <a:prstDash val="solid"/>
          </a:ln>
        </p:spPr>
      </p:sp>
      <p:sp>
        <p:nvSpPr>
          <p:cNvPr id="26" name="Text 24"/>
          <p:cNvSpPr/>
          <p:nvPr/>
        </p:nvSpPr>
        <p:spPr>
          <a:xfrm>
            <a:off x="6858000" y="4663440"/>
            <a:ext cx="438912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25-30% Commissions</a:t>
            </a:r>
            <a:endParaRPr lang="en-US" sz="1100" dirty="0"/>
          </a:p>
        </p:txBody>
      </p:sp>
      <p:sp>
        <p:nvSpPr>
          <p:cNvPr id="27" name="Text 25"/>
          <p:cNvSpPr/>
          <p:nvPr/>
        </p:nvSpPr>
        <p:spPr>
          <a:xfrm>
            <a:off x="6858000" y="498348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Aggregator commissions squeeze technicians, driving talent into cash-only offline grey markets.</a:t>
            </a:r>
            <a:endParaRPr lang="en-US" sz="1000" dirty="0"/>
          </a:p>
        </p:txBody>
      </p:sp>
      <p:sp>
        <p:nvSpPr>
          <p:cNvPr id="28" name="Text 26"/>
          <p:cNvSpPr/>
          <p:nvPr/>
        </p:nvSpPr>
        <p:spPr>
          <a:xfrm>
            <a:off x="731520" y="640080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ServiceHub India · Capstone Project · Slide 2 of 12</a:t>
            </a:r>
            <a:endParaRPr lang="en-US" sz="900" dirty="0"/>
          </a:p>
        </p:txBody>
      </p:sp>
      <p:sp>
        <p:nvSpPr>
          <p:cNvPr id="29" name="Text 27"/>
          <p:cNvSpPr/>
          <p:nvPr/>
        </p:nvSpPr>
        <p:spPr>
          <a:xfrm>
            <a:off x="8046720" y="6400800"/>
            <a:ext cx="33832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Academic Evaluation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PROPOSED SOLUTION</a:t>
            </a:r>
            <a:endParaRPr lang="en-US" sz="1000" dirty="0"/>
          </a:p>
        </p:txBody>
      </p:sp>
      <p:sp>
        <p:nvSpPr>
          <p:cNvPr id="4" name="Text 2"/>
          <p:cNvSpPr/>
          <p:nvPr/>
        </p:nvSpPr>
        <p:spPr>
          <a:xfrm>
            <a:off x="731520" y="640080"/>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Dual-Sector Innovation &amp; Core Architecture</a:t>
            </a:r>
            <a:endParaRPr lang="en-US" sz="2200" dirty="0"/>
          </a:p>
        </p:txBody>
      </p:sp>
      <p:sp>
        <p:nvSpPr>
          <p:cNvPr id="5" name="Text 3"/>
          <p:cNvSpPr/>
          <p:nvPr/>
        </p:nvSpPr>
        <p:spPr>
          <a:xfrm>
            <a:off x="731520" y="1188720"/>
            <a:ext cx="1051560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Unifying Metropolitan Convenience and Agrarian Needs Under One Trusted Platform</a:t>
            </a:r>
            <a:endParaRPr lang="en-US" sz="1200" dirty="0"/>
          </a:p>
        </p:txBody>
      </p:sp>
      <p:sp>
        <p:nvSpPr>
          <p:cNvPr id="6" name="Shape 4"/>
          <p:cNvSpPr/>
          <p:nvPr/>
        </p:nvSpPr>
        <p:spPr>
          <a:xfrm>
            <a:off x="731520" y="1645920"/>
            <a:ext cx="10698480" cy="0"/>
          </a:xfrm>
          <a:prstGeom prst="line">
            <a:avLst/>
          </a:prstGeom>
          <a:noFill/>
          <a:ln w="19050">
            <a:solidFill>
              <a:srgbClr val="E2E8F0"/>
            </a:solidFill>
            <a:prstDash val="solid"/>
          </a:ln>
        </p:spPr>
      </p:sp>
      <p:sp>
        <p:nvSpPr>
          <p:cNvPr id="7" name="Shape 5"/>
          <p:cNvSpPr/>
          <p:nvPr/>
        </p:nvSpPr>
        <p:spPr>
          <a:xfrm>
            <a:off x="731520" y="1920240"/>
            <a:ext cx="5669280" cy="777240"/>
          </a:xfrm>
          <a:prstGeom prst="roundRect">
            <a:avLst>
              <a:gd name="adj" fmla="val 9412"/>
            </a:avLst>
          </a:prstGeom>
          <a:solidFill>
            <a:srgbClr val="FFFFFF"/>
          </a:solidFill>
          <a:ln w="12700">
            <a:solidFill>
              <a:srgbClr val="E2E8F0"/>
            </a:solidFill>
            <a:prstDash val="solid"/>
          </a:ln>
        </p:spPr>
      </p:sp>
      <p:sp>
        <p:nvSpPr>
          <p:cNvPr id="8" name="Shape 6"/>
          <p:cNvSpPr/>
          <p:nvPr/>
        </p:nvSpPr>
        <p:spPr>
          <a:xfrm>
            <a:off x="914400" y="2212848"/>
            <a:ext cx="137160" cy="137160"/>
          </a:xfrm>
          <a:prstGeom prst="ellipse">
            <a:avLst/>
          </a:prstGeom>
          <a:solidFill>
            <a:srgbClr val="2563EB"/>
          </a:solidFill>
          <a:ln/>
        </p:spPr>
      </p:sp>
      <p:sp>
        <p:nvSpPr>
          <p:cNvPr id="9" name="Text 7"/>
          <p:cNvSpPr/>
          <p:nvPr/>
        </p:nvSpPr>
        <p:spPr>
          <a:xfrm>
            <a:off x="1143000" y="1993392"/>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Dual-Sector Marketplace: Curated service taxonomy spanning urban smart home repairs to rural agricultural machinery and Vedic ceremony specialists.</a:t>
            </a:r>
            <a:endParaRPr lang="en-US" sz="1100" dirty="0"/>
          </a:p>
        </p:txBody>
      </p:sp>
      <p:sp>
        <p:nvSpPr>
          <p:cNvPr id="10" name="Shape 8"/>
          <p:cNvSpPr/>
          <p:nvPr/>
        </p:nvSpPr>
        <p:spPr>
          <a:xfrm>
            <a:off x="731520" y="2816352"/>
            <a:ext cx="5669280" cy="777240"/>
          </a:xfrm>
          <a:prstGeom prst="roundRect">
            <a:avLst>
              <a:gd name="adj" fmla="val 9412"/>
            </a:avLst>
          </a:prstGeom>
          <a:solidFill>
            <a:srgbClr val="FFFFFF"/>
          </a:solidFill>
          <a:ln w="12700">
            <a:solidFill>
              <a:srgbClr val="E2E8F0"/>
            </a:solidFill>
            <a:prstDash val="solid"/>
          </a:ln>
        </p:spPr>
      </p:sp>
      <p:sp>
        <p:nvSpPr>
          <p:cNvPr id="11" name="Shape 9"/>
          <p:cNvSpPr/>
          <p:nvPr/>
        </p:nvSpPr>
        <p:spPr>
          <a:xfrm>
            <a:off x="914400" y="3108960"/>
            <a:ext cx="137160" cy="137160"/>
          </a:xfrm>
          <a:prstGeom prst="ellipse">
            <a:avLst/>
          </a:prstGeom>
          <a:solidFill>
            <a:srgbClr val="2563EB"/>
          </a:solidFill>
          <a:ln/>
        </p:spPr>
      </p:sp>
      <p:sp>
        <p:nvSpPr>
          <p:cNvPr id="12" name="Text 10"/>
          <p:cNvSpPr/>
          <p:nvPr/>
        </p:nvSpPr>
        <p:spPr>
          <a:xfrm>
            <a:off x="1143000" y="2889504"/>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Safety-First Emergency Gateway: Unauthenticated, instant access to official helpline 1906 (LPG), 112 (Disaster), and authoritative triage steps.</a:t>
            </a:r>
            <a:endParaRPr lang="en-US" sz="1100" dirty="0"/>
          </a:p>
        </p:txBody>
      </p:sp>
      <p:sp>
        <p:nvSpPr>
          <p:cNvPr id="13" name="Shape 11"/>
          <p:cNvSpPr/>
          <p:nvPr/>
        </p:nvSpPr>
        <p:spPr>
          <a:xfrm>
            <a:off x="731520" y="3712464"/>
            <a:ext cx="5669280" cy="777240"/>
          </a:xfrm>
          <a:prstGeom prst="roundRect">
            <a:avLst>
              <a:gd name="adj" fmla="val 9412"/>
            </a:avLst>
          </a:prstGeom>
          <a:solidFill>
            <a:srgbClr val="FFFFFF"/>
          </a:solidFill>
          <a:ln w="12700">
            <a:solidFill>
              <a:srgbClr val="E2E8F0"/>
            </a:solidFill>
            <a:prstDash val="solid"/>
          </a:ln>
        </p:spPr>
      </p:sp>
      <p:sp>
        <p:nvSpPr>
          <p:cNvPr id="14" name="Shape 12"/>
          <p:cNvSpPr/>
          <p:nvPr/>
        </p:nvSpPr>
        <p:spPr>
          <a:xfrm>
            <a:off x="914400" y="4005072"/>
            <a:ext cx="137160" cy="137160"/>
          </a:xfrm>
          <a:prstGeom prst="ellipse">
            <a:avLst/>
          </a:prstGeom>
          <a:solidFill>
            <a:srgbClr val="2563EB"/>
          </a:solidFill>
          <a:ln/>
        </p:spPr>
      </p:sp>
      <p:sp>
        <p:nvSpPr>
          <p:cNvPr id="15" name="Text 13"/>
          <p:cNvSpPr/>
          <p:nvPr/>
        </p:nvSpPr>
        <p:spPr>
          <a:xfrm>
            <a:off x="1143000" y="3785616"/>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Live Dispatch Engine: Interactive real-time dispatch with state machine preventing double-acceptance or race conditions.</a:t>
            </a:r>
            <a:endParaRPr lang="en-US" sz="1100" dirty="0"/>
          </a:p>
        </p:txBody>
      </p:sp>
      <p:sp>
        <p:nvSpPr>
          <p:cNvPr id="16" name="Shape 14"/>
          <p:cNvSpPr/>
          <p:nvPr/>
        </p:nvSpPr>
        <p:spPr>
          <a:xfrm>
            <a:off x="731520" y="4608576"/>
            <a:ext cx="5669280" cy="777240"/>
          </a:xfrm>
          <a:prstGeom prst="roundRect">
            <a:avLst>
              <a:gd name="adj" fmla="val 9412"/>
            </a:avLst>
          </a:prstGeom>
          <a:solidFill>
            <a:srgbClr val="FFFFFF"/>
          </a:solidFill>
          <a:ln w="12700">
            <a:solidFill>
              <a:srgbClr val="E2E8F0"/>
            </a:solidFill>
            <a:prstDash val="solid"/>
          </a:ln>
        </p:spPr>
      </p:sp>
      <p:sp>
        <p:nvSpPr>
          <p:cNvPr id="17" name="Shape 15"/>
          <p:cNvSpPr/>
          <p:nvPr/>
        </p:nvSpPr>
        <p:spPr>
          <a:xfrm>
            <a:off x="914400" y="4901184"/>
            <a:ext cx="137160" cy="137160"/>
          </a:xfrm>
          <a:prstGeom prst="ellipse">
            <a:avLst/>
          </a:prstGeom>
          <a:solidFill>
            <a:srgbClr val="2563EB"/>
          </a:solidFill>
          <a:ln/>
        </p:spPr>
      </p:sp>
      <p:sp>
        <p:nvSpPr>
          <p:cNvPr id="18" name="Text 16"/>
          <p:cNvSpPr/>
          <p:nvPr/>
        </p:nvSpPr>
        <p:spPr>
          <a:xfrm>
            <a:off x="1143000" y="4681728"/>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Transparent Verification: Publicly auditable Aadhaar &amp; Trade License verification badges with zero opaque algorithm penalties.</a:t>
            </a:r>
            <a:endParaRPr lang="en-US" sz="1100" dirty="0"/>
          </a:p>
        </p:txBody>
      </p:sp>
      <p:sp>
        <p:nvSpPr>
          <p:cNvPr id="19" name="Shape 17"/>
          <p:cNvSpPr/>
          <p:nvPr/>
        </p:nvSpPr>
        <p:spPr>
          <a:xfrm>
            <a:off x="6675120" y="1920240"/>
            <a:ext cx="4754880" cy="1097280"/>
          </a:xfrm>
          <a:prstGeom prst="roundRect">
            <a:avLst>
              <a:gd name="adj" fmla="val 6667"/>
            </a:avLst>
          </a:prstGeom>
          <a:solidFill>
            <a:srgbClr val="FFFFFF"/>
          </a:solidFill>
          <a:ln w="19050">
            <a:solidFill>
              <a:srgbClr val="CBD5E1"/>
            </a:solidFill>
            <a:prstDash val="solid"/>
          </a:ln>
        </p:spPr>
      </p:sp>
      <p:sp>
        <p:nvSpPr>
          <p:cNvPr id="20" name="Text 18"/>
          <p:cNvSpPr/>
          <p:nvPr/>
        </p:nvSpPr>
        <p:spPr>
          <a:xfrm>
            <a:off x="6858000" y="2011680"/>
            <a:ext cx="4389120" cy="32004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Urban Services</a:t>
            </a:r>
            <a:endParaRPr lang="en-US" sz="1100" dirty="0"/>
          </a:p>
        </p:txBody>
      </p:sp>
      <p:sp>
        <p:nvSpPr>
          <p:cNvPr id="21" name="Text 19"/>
          <p:cNvSpPr/>
          <p:nvPr/>
        </p:nvSpPr>
        <p:spPr>
          <a:xfrm>
            <a:off x="6858000" y="233172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AC servicing, EV charging stations, RO water purification, pest control, interior electrical.</a:t>
            </a:r>
            <a:endParaRPr lang="en-US" sz="1000" dirty="0"/>
          </a:p>
        </p:txBody>
      </p:sp>
      <p:sp>
        <p:nvSpPr>
          <p:cNvPr id="22" name="Shape 20"/>
          <p:cNvSpPr/>
          <p:nvPr/>
        </p:nvSpPr>
        <p:spPr>
          <a:xfrm>
            <a:off x="6675120" y="3246120"/>
            <a:ext cx="4754880" cy="1097280"/>
          </a:xfrm>
          <a:prstGeom prst="roundRect">
            <a:avLst>
              <a:gd name="adj" fmla="val 6667"/>
            </a:avLst>
          </a:prstGeom>
          <a:solidFill>
            <a:srgbClr val="F0FDF4"/>
          </a:solidFill>
          <a:ln w="19050">
            <a:solidFill>
              <a:srgbClr val="86EFAC"/>
            </a:solidFill>
            <a:prstDash val="solid"/>
          </a:ln>
        </p:spPr>
      </p:sp>
      <p:sp>
        <p:nvSpPr>
          <p:cNvPr id="23" name="Text 21"/>
          <p:cNvSpPr/>
          <p:nvPr/>
        </p:nvSpPr>
        <p:spPr>
          <a:xfrm>
            <a:off x="6858000" y="3337560"/>
            <a:ext cx="4389120" cy="320040"/>
          </a:xfrm>
          <a:prstGeom prst="rect">
            <a:avLst/>
          </a:prstGeom>
          <a:noFill/>
          <a:ln/>
        </p:spPr>
        <p:txBody>
          <a:bodyPr wrap="square" rtlCol="0" anchor="ctr"/>
          <a:lstStyle/>
          <a:p>
            <a:pPr indent="0" marL="0">
              <a:buNone/>
            </a:pPr>
            <a:r>
              <a:rPr lang="en-US" sz="1100" b="1" dirty="0">
                <a:solidFill>
                  <a:srgbClr val="16A34A"/>
                </a:solidFill>
                <a:latin typeface="Arial" pitchFamily="34" charset="0"/>
                <a:ea typeface="Arial" pitchFamily="34" charset="-122"/>
                <a:cs typeface="Arial" pitchFamily="34" charset="-120"/>
              </a:rPr>
              <a:t>Rural &amp; Agricultural</a:t>
            </a:r>
            <a:endParaRPr lang="en-US" sz="1100" dirty="0"/>
          </a:p>
        </p:txBody>
      </p:sp>
      <p:sp>
        <p:nvSpPr>
          <p:cNvPr id="24" name="Text 22"/>
          <p:cNvSpPr/>
          <p:nvPr/>
        </p:nvSpPr>
        <p:spPr>
          <a:xfrm>
            <a:off x="6858000" y="365760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Solar water pumps, tractor overhaul, drip irrigation calibration, combine harvester repairs.</a:t>
            </a:r>
            <a:endParaRPr lang="en-US" sz="1000" dirty="0"/>
          </a:p>
        </p:txBody>
      </p:sp>
      <p:sp>
        <p:nvSpPr>
          <p:cNvPr id="25" name="Shape 23"/>
          <p:cNvSpPr/>
          <p:nvPr/>
        </p:nvSpPr>
        <p:spPr>
          <a:xfrm>
            <a:off x="6675120" y="4572000"/>
            <a:ext cx="4754880" cy="1097280"/>
          </a:xfrm>
          <a:prstGeom prst="roundRect">
            <a:avLst>
              <a:gd name="adj" fmla="val 6667"/>
            </a:avLst>
          </a:prstGeom>
          <a:solidFill>
            <a:srgbClr val="FFFBEB"/>
          </a:solidFill>
          <a:ln w="19050">
            <a:solidFill>
              <a:srgbClr val="FDE68A"/>
            </a:solidFill>
            <a:prstDash val="solid"/>
          </a:ln>
        </p:spPr>
      </p:sp>
      <p:sp>
        <p:nvSpPr>
          <p:cNvPr id="26" name="Text 24"/>
          <p:cNvSpPr/>
          <p:nvPr/>
        </p:nvSpPr>
        <p:spPr>
          <a:xfrm>
            <a:off x="6858000" y="4663440"/>
            <a:ext cx="438912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Cultural Services</a:t>
            </a:r>
            <a:endParaRPr lang="en-US" sz="1100" dirty="0"/>
          </a:p>
        </p:txBody>
      </p:sp>
      <p:sp>
        <p:nvSpPr>
          <p:cNvPr id="27" name="Text 25"/>
          <p:cNvSpPr/>
          <p:nvPr/>
        </p:nvSpPr>
        <p:spPr>
          <a:xfrm>
            <a:off x="6858000" y="498348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Verified Vedic priests, festival lighting setups, community pandal sound and wiring.</a:t>
            </a:r>
            <a:endParaRPr lang="en-US" sz="1000" dirty="0"/>
          </a:p>
        </p:txBody>
      </p:sp>
      <p:sp>
        <p:nvSpPr>
          <p:cNvPr id="28" name="Text 26"/>
          <p:cNvSpPr/>
          <p:nvPr/>
        </p:nvSpPr>
        <p:spPr>
          <a:xfrm>
            <a:off x="731520" y="640080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ServiceHub India · Capstone Project · Slide 3 of 12</a:t>
            </a:r>
            <a:endParaRPr lang="en-US" sz="900" dirty="0"/>
          </a:p>
        </p:txBody>
      </p:sp>
      <p:sp>
        <p:nvSpPr>
          <p:cNvPr id="29" name="Text 27"/>
          <p:cNvSpPr/>
          <p:nvPr/>
        </p:nvSpPr>
        <p:spPr>
          <a:xfrm>
            <a:off x="8046720" y="6400800"/>
            <a:ext cx="33832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Academic Evaluation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EMERGENCY SAFETY WORKFLOW</a:t>
            </a:r>
            <a:endParaRPr lang="en-US" sz="1000" dirty="0"/>
          </a:p>
        </p:txBody>
      </p:sp>
      <p:sp>
        <p:nvSpPr>
          <p:cNvPr id="4" name="Text 2"/>
          <p:cNvSpPr/>
          <p:nvPr/>
        </p:nvSpPr>
        <p:spPr>
          <a:xfrm>
            <a:off x="731520" y="640080"/>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Zero-Barrier Emergency Help Architecture</a:t>
            </a:r>
            <a:endParaRPr lang="en-US" sz="2200" dirty="0"/>
          </a:p>
        </p:txBody>
      </p:sp>
      <p:sp>
        <p:nvSpPr>
          <p:cNvPr id="5" name="Text 3"/>
          <p:cNvSpPr/>
          <p:nvPr/>
        </p:nvSpPr>
        <p:spPr>
          <a:xfrm>
            <a:off x="731520" y="1188720"/>
            <a:ext cx="1051560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Authoritative Safety Triage for Household Disasters with Anti-Hallucination Protocols</a:t>
            </a:r>
            <a:endParaRPr lang="en-US" sz="1200" dirty="0"/>
          </a:p>
        </p:txBody>
      </p:sp>
      <p:sp>
        <p:nvSpPr>
          <p:cNvPr id="6" name="Shape 4"/>
          <p:cNvSpPr/>
          <p:nvPr/>
        </p:nvSpPr>
        <p:spPr>
          <a:xfrm>
            <a:off x="731520" y="1645920"/>
            <a:ext cx="10698480" cy="0"/>
          </a:xfrm>
          <a:prstGeom prst="line">
            <a:avLst/>
          </a:prstGeom>
          <a:noFill/>
          <a:ln w="19050">
            <a:solidFill>
              <a:srgbClr val="E2E8F0"/>
            </a:solidFill>
            <a:prstDash val="solid"/>
          </a:ln>
        </p:spPr>
      </p:sp>
      <p:sp>
        <p:nvSpPr>
          <p:cNvPr id="7" name="Shape 5"/>
          <p:cNvSpPr/>
          <p:nvPr/>
        </p:nvSpPr>
        <p:spPr>
          <a:xfrm>
            <a:off x="731520" y="1920240"/>
            <a:ext cx="5669280" cy="777240"/>
          </a:xfrm>
          <a:prstGeom prst="roundRect">
            <a:avLst>
              <a:gd name="adj" fmla="val 9412"/>
            </a:avLst>
          </a:prstGeom>
          <a:solidFill>
            <a:srgbClr val="FFFFFF"/>
          </a:solidFill>
          <a:ln w="12700">
            <a:solidFill>
              <a:srgbClr val="E2E8F0"/>
            </a:solidFill>
            <a:prstDash val="solid"/>
          </a:ln>
        </p:spPr>
      </p:sp>
      <p:sp>
        <p:nvSpPr>
          <p:cNvPr id="8" name="Shape 6"/>
          <p:cNvSpPr/>
          <p:nvPr/>
        </p:nvSpPr>
        <p:spPr>
          <a:xfrm>
            <a:off x="914400" y="2212848"/>
            <a:ext cx="137160" cy="137160"/>
          </a:xfrm>
          <a:prstGeom prst="ellipse">
            <a:avLst/>
          </a:prstGeom>
          <a:solidFill>
            <a:srgbClr val="2563EB"/>
          </a:solidFill>
          <a:ln/>
        </p:spPr>
      </p:sp>
      <p:sp>
        <p:nvSpPr>
          <p:cNvPr id="9" name="Text 7"/>
          <p:cNvSpPr/>
          <p:nvPr/>
        </p:nvSpPr>
        <p:spPr>
          <a:xfrm>
            <a:off x="1143000" y="1993392"/>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Zero-Authentication Access: Accessible immediately from navigation bar and hero header without login, payment, or location barriers.</a:t>
            </a:r>
            <a:endParaRPr lang="en-US" sz="1100" dirty="0"/>
          </a:p>
        </p:txBody>
      </p:sp>
      <p:sp>
        <p:nvSpPr>
          <p:cNvPr id="10" name="Shape 8"/>
          <p:cNvSpPr/>
          <p:nvPr/>
        </p:nvSpPr>
        <p:spPr>
          <a:xfrm>
            <a:off x="731520" y="2816352"/>
            <a:ext cx="5669280" cy="777240"/>
          </a:xfrm>
          <a:prstGeom prst="roundRect">
            <a:avLst>
              <a:gd name="adj" fmla="val 9412"/>
            </a:avLst>
          </a:prstGeom>
          <a:solidFill>
            <a:srgbClr val="FFFFFF"/>
          </a:solidFill>
          <a:ln w="12700">
            <a:solidFill>
              <a:srgbClr val="E2E8F0"/>
            </a:solidFill>
            <a:prstDash val="solid"/>
          </a:ln>
        </p:spPr>
      </p:sp>
      <p:sp>
        <p:nvSpPr>
          <p:cNvPr id="11" name="Shape 9"/>
          <p:cNvSpPr/>
          <p:nvPr/>
        </p:nvSpPr>
        <p:spPr>
          <a:xfrm>
            <a:off x="914400" y="3108960"/>
            <a:ext cx="137160" cy="137160"/>
          </a:xfrm>
          <a:prstGeom prst="ellipse">
            <a:avLst/>
          </a:prstGeom>
          <a:solidFill>
            <a:srgbClr val="2563EB"/>
          </a:solidFill>
          <a:ln/>
        </p:spPr>
      </p:sp>
      <p:sp>
        <p:nvSpPr>
          <p:cNvPr id="12" name="Text 10"/>
          <p:cNvSpPr/>
          <p:nvPr/>
        </p:nvSpPr>
        <p:spPr>
          <a:xfrm>
            <a:off x="1143000" y="2889504"/>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Anti-Hallucination Safety Guidance: Hardcoded, verified safety instructions adhering to petroleum and electrical safety standards—never delegated to generative AI.</a:t>
            </a:r>
            <a:endParaRPr lang="en-US" sz="1100" dirty="0"/>
          </a:p>
        </p:txBody>
      </p:sp>
      <p:sp>
        <p:nvSpPr>
          <p:cNvPr id="13" name="Shape 11"/>
          <p:cNvSpPr/>
          <p:nvPr/>
        </p:nvSpPr>
        <p:spPr>
          <a:xfrm>
            <a:off x="731520" y="3712464"/>
            <a:ext cx="5669280" cy="777240"/>
          </a:xfrm>
          <a:prstGeom prst="roundRect">
            <a:avLst>
              <a:gd name="adj" fmla="val 9412"/>
            </a:avLst>
          </a:prstGeom>
          <a:solidFill>
            <a:srgbClr val="FFFFFF"/>
          </a:solidFill>
          <a:ln w="12700">
            <a:solidFill>
              <a:srgbClr val="E2E8F0"/>
            </a:solidFill>
            <a:prstDash val="solid"/>
          </a:ln>
        </p:spPr>
      </p:sp>
      <p:sp>
        <p:nvSpPr>
          <p:cNvPr id="14" name="Shape 12"/>
          <p:cNvSpPr/>
          <p:nvPr/>
        </p:nvSpPr>
        <p:spPr>
          <a:xfrm>
            <a:off x="914400" y="4005072"/>
            <a:ext cx="137160" cy="137160"/>
          </a:xfrm>
          <a:prstGeom prst="ellipse">
            <a:avLst/>
          </a:prstGeom>
          <a:solidFill>
            <a:srgbClr val="2563EB"/>
          </a:solidFill>
          <a:ln/>
        </p:spPr>
      </p:sp>
      <p:sp>
        <p:nvSpPr>
          <p:cNvPr id="15" name="Text 13"/>
          <p:cNvSpPr/>
          <p:nvPr/>
        </p:nvSpPr>
        <p:spPr>
          <a:xfrm>
            <a:off x="1143000" y="3785616"/>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Official Helpline Integration: One-touch calling for LPG Emergency 1906, National Disaster Helpline 112, and Ambulance 108.</a:t>
            </a:r>
            <a:endParaRPr lang="en-US" sz="1100" dirty="0"/>
          </a:p>
        </p:txBody>
      </p:sp>
      <p:sp>
        <p:nvSpPr>
          <p:cNvPr id="16" name="Shape 14"/>
          <p:cNvSpPr/>
          <p:nvPr/>
        </p:nvSpPr>
        <p:spPr>
          <a:xfrm>
            <a:off x="731520" y="4608576"/>
            <a:ext cx="5669280" cy="777240"/>
          </a:xfrm>
          <a:prstGeom prst="roundRect">
            <a:avLst>
              <a:gd name="adj" fmla="val 9412"/>
            </a:avLst>
          </a:prstGeom>
          <a:solidFill>
            <a:srgbClr val="FFFFFF"/>
          </a:solidFill>
          <a:ln w="12700">
            <a:solidFill>
              <a:srgbClr val="E2E8F0"/>
            </a:solidFill>
            <a:prstDash val="solid"/>
          </a:ln>
        </p:spPr>
      </p:sp>
      <p:sp>
        <p:nvSpPr>
          <p:cNvPr id="17" name="Shape 15"/>
          <p:cNvSpPr/>
          <p:nvPr/>
        </p:nvSpPr>
        <p:spPr>
          <a:xfrm>
            <a:off x="914400" y="4901184"/>
            <a:ext cx="137160" cy="137160"/>
          </a:xfrm>
          <a:prstGeom prst="ellipse">
            <a:avLst/>
          </a:prstGeom>
          <a:solidFill>
            <a:srgbClr val="2563EB"/>
          </a:solidFill>
          <a:ln/>
        </p:spPr>
      </p:sp>
      <p:sp>
        <p:nvSpPr>
          <p:cNvPr id="18" name="Text 16"/>
          <p:cNvSpPr/>
          <p:nvPr/>
        </p:nvSpPr>
        <p:spPr>
          <a:xfrm>
            <a:off x="1143000" y="4681728"/>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Ethical Marketplace Boundary: Strictly labels optional repair bookings as commercial marketplace assistance, never falsely claiming official civic responder dispatch.</a:t>
            </a:r>
            <a:endParaRPr lang="en-US" sz="1100" dirty="0"/>
          </a:p>
        </p:txBody>
      </p:sp>
      <p:sp>
        <p:nvSpPr>
          <p:cNvPr id="19" name="Shape 17"/>
          <p:cNvSpPr/>
          <p:nvPr/>
        </p:nvSpPr>
        <p:spPr>
          <a:xfrm>
            <a:off x="6675120" y="1920240"/>
            <a:ext cx="4754880" cy="1097280"/>
          </a:xfrm>
          <a:prstGeom prst="roundRect">
            <a:avLst>
              <a:gd name="adj" fmla="val 6667"/>
            </a:avLst>
          </a:prstGeom>
          <a:solidFill>
            <a:srgbClr val="FEF2F2"/>
          </a:solidFill>
          <a:ln w="19050">
            <a:solidFill>
              <a:srgbClr val="FCA5A5"/>
            </a:solidFill>
            <a:prstDash val="solid"/>
          </a:ln>
        </p:spPr>
      </p:sp>
      <p:sp>
        <p:nvSpPr>
          <p:cNvPr id="20" name="Text 18"/>
          <p:cNvSpPr/>
          <p:nvPr/>
        </p:nvSpPr>
        <p:spPr>
          <a:xfrm>
            <a:off x="6858000" y="2011680"/>
            <a:ext cx="4389120" cy="320040"/>
          </a:xfrm>
          <a:prstGeom prst="rect">
            <a:avLst/>
          </a:prstGeom>
          <a:noFill/>
          <a:ln/>
        </p:spPr>
        <p:txBody>
          <a:bodyPr wrap="square" rtlCol="0" anchor="ctr"/>
          <a:lstStyle/>
          <a:p>
            <a:pPr indent="0" marL="0">
              <a:buNone/>
            </a:pPr>
            <a:r>
              <a:rPr lang="en-US" sz="1100" b="1" dirty="0">
                <a:solidFill>
                  <a:srgbClr val="DC2626"/>
                </a:solidFill>
                <a:latin typeface="Arial" pitchFamily="34" charset="0"/>
                <a:ea typeface="Arial" pitchFamily="34" charset="-122"/>
                <a:cs typeface="Arial" pitchFamily="34" charset="-120"/>
              </a:rPr>
              <a:t>LPG Gas Leakage (1906)</a:t>
            </a:r>
            <a:endParaRPr lang="en-US" sz="1100" dirty="0"/>
          </a:p>
        </p:txBody>
      </p:sp>
      <p:sp>
        <p:nvSpPr>
          <p:cNvPr id="21" name="Text 19"/>
          <p:cNvSpPr/>
          <p:nvPr/>
        </p:nvSpPr>
        <p:spPr>
          <a:xfrm>
            <a:off x="6858000" y="233172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Immediate warning: NO electrical switches, NO open flames, evacuate immediately, close cylinder regulator valve only if safe.</a:t>
            </a:r>
            <a:endParaRPr lang="en-US" sz="1000" dirty="0"/>
          </a:p>
        </p:txBody>
      </p:sp>
      <p:sp>
        <p:nvSpPr>
          <p:cNvPr id="22" name="Shape 20"/>
          <p:cNvSpPr/>
          <p:nvPr/>
        </p:nvSpPr>
        <p:spPr>
          <a:xfrm>
            <a:off x="6675120" y="3246120"/>
            <a:ext cx="4754880" cy="1097280"/>
          </a:xfrm>
          <a:prstGeom prst="roundRect">
            <a:avLst>
              <a:gd name="adj" fmla="val 6667"/>
            </a:avLst>
          </a:prstGeom>
          <a:solidFill>
            <a:srgbClr val="FFFBEB"/>
          </a:solidFill>
          <a:ln w="19050">
            <a:solidFill>
              <a:srgbClr val="FDE68A"/>
            </a:solidFill>
            <a:prstDash val="solid"/>
          </a:ln>
        </p:spPr>
      </p:sp>
      <p:sp>
        <p:nvSpPr>
          <p:cNvPr id="23" name="Text 21"/>
          <p:cNvSpPr/>
          <p:nvPr/>
        </p:nvSpPr>
        <p:spPr>
          <a:xfrm>
            <a:off x="6858000" y="3337560"/>
            <a:ext cx="438912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Electrical Sparking (112)</a:t>
            </a:r>
            <a:endParaRPr lang="en-US" sz="1100" dirty="0"/>
          </a:p>
        </p:txBody>
      </p:sp>
      <p:sp>
        <p:nvSpPr>
          <p:cNvPr id="24" name="Text 22"/>
          <p:cNvSpPr/>
          <p:nvPr/>
        </p:nvSpPr>
        <p:spPr>
          <a:xfrm>
            <a:off x="6858000" y="365760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Isolate main MCB distribution board without touching wet fixtures; keep dry fire extinguisher ready; call certified electrician.</a:t>
            </a:r>
            <a:endParaRPr lang="en-US" sz="1000" dirty="0"/>
          </a:p>
        </p:txBody>
      </p:sp>
      <p:sp>
        <p:nvSpPr>
          <p:cNvPr id="25" name="Shape 23"/>
          <p:cNvSpPr/>
          <p:nvPr/>
        </p:nvSpPr>
        <p:spPr>
          <a:xfrm>
            <a:off x="6675120" y="4572000"/>
            <a:ext cx="4754880" cy="1097280"/>
          </a:xfrm>
          <a:prstGeom prst="roundRect">
            <a:avLst>
              <a:gd name="adj" fmla="val 6667"/>
            </a:avLst>
          </a:prstGeom>
          <a:solidFill>
            <a:srgbClr val="FFFFFF"/>
          </a:solidFill>
          <a:ln w="19050">
            <a:solidFill>
              <a:srgbClr val="CBD5E1"/>
            </a:solidFill>
            <a:prstDash val="solid"/>
          </a:ln>
        </p:spPr>
      </p:sp>
      <p:sp>
        <p:nvSpPr>
          <p:cNvPr id="26" name="Text 24"/>
          <p:cNvSpPr/>
          <p:nvPr/>
        </p:nvSpPr>
        <p:spPr>
          <a:xfrm>
            <a:off x="6858000" y="4663440"/>
            <a:ext cx="4389120" cy="32004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Burst Pipe &amp; Flood</a:t>
            </a:r>
            <a:endParaRPr lang="en-US" sz="1100" dirty="0"/>
          </a:p>
        </p:txBody>
      </p:sp>
      <p:sp>
        <p:nvSpPr>
          <p:cNvPr id="27" name="Text 25"/>
          <p:cNvSpPr/>
          <p:nvPr/>
        </p:nvSpPr>
        <p:spPr>
          <a:xfrm>
            <a:off x="6858000" y="498348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Shut off main water inlet stopcock; keep away from submerged switchboards; summon authorized plumber.</a:t>
            </a:r>
            <a:endParaRPr lang="en-US" sz="1000" dirty="0"/>
          </a:p>
        </p:txBody>
      </p:sp>
      <p:sp>
        <p:nvSpPr>
          <p:cNvPr id="28" name="Text 26"/>
          <p:cNvSpPr/>
          <p:nvPr/>
        </p:nvSpPr>
        <p:spPr>
          <a:xfrm>
            <a:off x="731520" y="640080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ServiceHub India · Capstone Project · Slide 4 of 12</a:t>
            </a:r>
            <a:endParaRPr lang="en-US" sz="900" dirty="0"/>
          </a:p>
        </p:txBody>
      </p:sp>
      <p:sp>
        <p:nvSpPr>
          <p:cNvPr id="29" name="Text 27"/>
          <p:cNvSpPr/>
          <p:nvPr/>
        </p:nvSpPr>
        <p:spPr>
          <a:xfrm>
            <a:off x="8046720" y="6400800"/>
            <a:ext cx="33832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Academic Evaluation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REAL-TIME DISPATCH ENGINE</a:t>
            </a:r>
            <a:endParaRPr lang="en-US" sz="1000" dirty="0"/>
          </a:p>
        </p:txBody>
      </p:sp>
      <p:sp>
        <p:nvSpPr>
          <p:cNvPr id="4" name="Text 2"/>
          <p:cNvSpPr/>
          <p:nvPr/>
        </p:nvSpPr>
        <p:spPr>
          <a:xfrm>
            <a:off x="731520" y="640080"/>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Booking Lifecycle &amp; Real-Time Synchronization</a:t>
            </a:r>
            <a:endParaRPr lang="en-US" sz="2200" dirty="0"/>
          </a:p>
        </p:txBody>
      </p:sp>
      <p:sp>
        <p:nvSpPr>
          <p:cNvPr id="5" name="Text 3"/>
          <p:cNvSpPr/>
          <p:nvPr/>
        </p:nvSpPr>
        <p:spPr>
          <a:xfrm>
            <a:off x="731520" y="1188720"/>
            <a:ext cx="1051560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Server-Authoritative State Machine with Concurrency &amp; Race Condition Protection</a:t>
            </a:r>
            <a:endParaRPr lang="en-US" sz="1200" dirty="0"/>
          </a:p>
        </p:txBody>
      </p:sp>
      <p:sp>
        <p:nvSpPr>
          <p:cNvPr id="6" name="Shape 4"/>
          <p:cNvSpPr/>
          <p:nvPr/>
        </p:nvSpPr>
        <p:spPr>
          <a:xfrm>
            <a:off x="731520" y="1645920"/>
            <a:ext cx="10698480" cy="0"/>
          </a:xfrm>
          <a:prstGeom prst="line">
            <a:avLst/>
          </a:prstGeom>
          <a:noFill/>
          <a:ln w="19050">
            <a:solidFill>
              <a:srgbClr val="E2E8F0"/>
            </a:solidFill>
            <a:prstDash val="solid"/>
          </a:ln>
        </p:spPr>
      </p:sp>
      <p:sp>
        <p:nvSpPr>
          <p:cNvPr id="7" name="Shape 5"/>
          <p:cNvSpPr/>
          <p:nvPr/>
        </p:nvSpPr>
        <p:spPr>
          <a:xfrm>
            <a:off x="731520" y="1920240"/>
            <a:ext cx="5669280" cy="777240"/>
          </a:xfrm>
          <a:prstGeom prst="roundRect">
            <a:avLst>
              <a:gd name="adj" fmla="val 9412"/>
            </a:avLst>
          </a:prstGeom>
          <a:solidFill>
            <a:srgbClr val="FFFFFF"/>
          </a:solidFill>
          <a:ln w="12700">
            <a:solidFill>
              <a:srgbClr val="E2E8F0"/>
            </a:solidFill>
            <a:prstDash val="solid"/>
          </a:ln>
        </p:spPr>
      </p:sp>
      <p:sp>
        <p:nvSpPr>
          <p:cNvPr id="8" name="Shape 6"/>
          <p:cNvSpPr/>
          <p:nvPr/>
        </p:nvSpPr>
        <p:spPr>
          <a:xfrm>
            <a:off x="914400" y="2212848"/>
            <a:ext cx="137160" cy="137160"/>
          </a:xfrm>
          <a:prstGeom prst="ellipse">
            <a:avLst/>
          </a:prstGeom>
          <a:solidFill>
            <a:srgbClr val="2563EB"/>
          </a:solidFill>
          <a:ln/>
        </p:spPr>
      </p:sp>
      <p:sp>
        <p:nvSpPr>
          <p:cNvPr id="9" name="Text 7"/>
          <p:cNvSpPr/>
          <p:nvPr/>
        </p:nvSpPr>
        <p:spPr>
          <a:xfrm>
            <a:off x="1143000" y="1993392"/>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Deterministic State Machine: Strict transitions: PENDING → ACCEPTED | REJECTED → IN_PROGRESS → COMPLETED | CANCELLED.</a:t>
            </a:r>
            <a:endParaRPr lang="en-US" sz="1100" dirty="0"/>
          </a:p>
        </p:txBody>
      </p:sp>
      <p:sp>
        <p:nvSpPr>
          <p:cNvPr id="10" name="Shape 8"/>
          <p:cNvSpPr/>
          <p:nvPr/>
        </p:nvSpPr>
        <p:spPr>
          <a:xfrm>
            <a:off x="731520" y="2816352"/>
            <a:ext cx="5669280" cy="777240"/>
          </a:xfrm>
          <a:prstGeom prst="roundRect">
            <a:avLst>
              <a:gd name="adj" fmla="val 9412"/>
            </a:avLst>
          </a:prstGeom>
          <a:solidFill>
            <a:srgbClr val="FFFFFF"/>
          </a:solidFill>
          <a:ln w="12700">
            <a:solidFill>
              <a:srgbClr val="E2E8F0"/>
            </a:solidFill>
            <a:prstDash val="solid"/>
          </a:ln>
        </p:spPr>
      </p:sp>
      <p:sp>
        <p:nvSpPr>
          <p:cNvPr id="11" name="Shape 9"/>
          <p:cNvSpPr/>
          <p:nvPr/>
        </p:nvSpPr>
        <p:spPr>
          <a:xfrm>
            <a:off x="914400" y="3108960"/>
            <a:ext cx="137160" cy="137160"/>
          </a:xfrm>
          <a:prstGeom prst="ellipse">
            <a:avLst/>
          </a:prstGeom>
          <a:solidFill>
            <a:srgbClr val="2563EB"/>
          </a:solidFill>
          <a:ln/>
        </p:spPr>
      </p:sp>
      <p:sp>
        <p:nvSpPr>
          <p:cNvPr id="12" name="Text 10"/>
          <p:cNvSpPr/>
          <p:nvPr/>
        </p:nvSpPr>
        <p:spPr>
          <a:xfrm>
            <a:off x="1143000" y="2889504"/>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Real-Time WebSocket &amp; Event Synchronization: Instant dual-screen status reflection across customer and provider views without browser reloads.</a:t>
            </a:r>
            <a:endParaRPr lang="en-US" sz="1100" dirty="0"/>
          </a:p>
        </p:txBody>
      </p:sp>
      <p:sp>
        <p:nvSpPr>
          <p:cNvPr id="13" name="Shape 11"/>
          <p:cNvSpPr/>
          <p:nvPr/>
        </p:nvSpPr>
        <p:spPr>
          <a:xfrm>
            <a:off x="731520" y="3712464"/>
            <a:ext cx="5669280" cy="777240"/>
          </a:xfrm>
          <a:prstGeom prst="roundRect">
            <a:avLst>
              <a:gd name="adj" fmla="val 9412"/>
            </a:avLst>
          </a:prstGeom>
          <a:solidFill>
            <a:srgbClr val="FFFFFF"/>
          </a:solidFill>
          <a:ln w="12700">
            <a:solidFill>
              <a:srgbClr val="E2E8F0"/>
            </a:solidFill>
            <a:prstDash val="solid"/>
          </a:ln>
        </p:spPr>
      </p:sp>
      <p:sp>
        <p:nvSpPr>
          <p:cNvPr id="14" name="Shape 12"/>
          <p:cNvSpPr/>
          <p:nvPr/>
        </p:nvSpPr>
        <p:spPr>
          <a:xfrm>
            <a:off x="914400" y="4005072"/>
            <a:ext cx="137160" cy="137160"/>
          </a:xfrm>
          <a:prstGeom prst="ellipse">
            <a:avLst/>
          </a:prstGeom>
          <a:solidFill>
            <a:srgbClr val="2563EB"/>
          </a:solidFill>
          <a:ln/>
        </p:spPr>
      </p:sp>
      <p:sp>
        <p:nvSpPr>
          <p:cNvPr id="15" name="Text 13"/>
          <p:cNvSpPr/>
          <p:nvPr/>
        </p:nvSpPr>
        <p:spPr>
          <a:xfrm>
            <a:off x="1143000" y="3785616"/>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Double-Acceptance Guard: Atomic database transaction prevents concurrent providers from accepting the same emergency or standard booking.</a:t>
            </a:r>
            <a:endParaRPr lang="en-US" sz="1100" dirty="0"/>
          </a:p>
        </p:txBody>
      </p:sp>
      <p:sp>
        <p:nvSpPr>
          <p:cNvPr id="16" name="Shape 14"/>
          <p:cNvSpPr/>
          <p:nvPr/>
        </p:nvSpPr>
        <p:spPr>
          <a:xfrm>
            <a:off x="731520" y="4608576"/>
            <a:ext cx="5669280" cy="777240"/>
          </a:xfrm>
          <a:prstGeom prst="roundRect">
            <a:avLst>
              <a:gd name="adj" fmla="val 9412"/>
            </a:avLst>
          </a:prstGeom>
          <a:solidFill>
            <a:srgbClr val="FFFFFF"/>
          </a:solidFill>
          <a:ln w="12700">
            <a:solidFill>
              <a:srgbClr val="E2E8F0"/>
            </a:solidFill>
            <a:prstDash val="solid"/>
          </a:ln>
        </p:spPr>
      </p:sp>
      <p:sp>
        <p:nvSpPr>
          <p:cNvPr id="17" name="Shape 15"/>
          <p:cNvSpPr/>
          <p:nvPr/>
        </p:nvSpPr>
        <p:spPr>
          <a:xfrm>
            <a:off x="914400" y="4901184"/>
            <a:ext cx="137160" cy="137160"/>
          </a:xfrm>
          <a:prstGeom prst="ellipse">
            <a:avLst/>
          </a:prstGeom>
          <a:solidFill>
            <a:srgbClr val="2563EB"/>
          </a:solidFill>
          <a:ln/>
        </p:spPr>
      </p:sp>
      <p:sp>
        <p:nvSpPr>
          <p:cNvPr id="18" name="Text 16"/>
          <p:cNvSpPr/>
          <p:nvPr/>
        </p:nvSpPr>
        <p:spPr>
          <a:xfrm>
            <a:off x="1143000" y="4681728"/>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Resilient Offline Recovery: Reconnection listeners poll SQLite database state upon network reconnection, guaranteeing zero lost bookings.</a:t>
            </a:r>
            <a:endParaRPr lang="en-US" sz="1100" dirty="0"/>
          </a:p>
        </p:txBody>
      </p:sp>
      <p:sp>
        <p:nvSpPr>
          <p:cNvPr id="19" name="Shape 17"/>
          <p:cNvSpPr/>
          <p:nvPr/>
        </p:nvSpPr>
        <p:spPr>
          <a:xfrm>
            <a:off x="6675120" y="1920240"/>
            <a:ext cx="4754880" cy="1097280"/>
          </a:xfrm>
          <a:prstGeom prst="roundRect">
            <a:avLst>
              <a:gd name="adj" fmla="val 6667"/>
            </a:avLst>
          </a:prstGeom>
          <a:solidFill>
            <a:srgbClr val="FFFFFF"/>
          </a:solidFill>
          <a:ln w="19050">
            <a:solidFill>
              <a:srgbClr val="CBD5E1"/>
            </a:solidFill>
            <a:prstDash val="solid"/>
          </a:ln>
        </p:spPr>
      </p:sp>
      <p:sp>
        <p:nvSpPr>
          <p:cNvPr id="20" name="Text 18"/>
          <p:cNvSpPr/>
          <p:nvPr/>
        </p:nvSpPr>
        <p:spPr>
          <a:xfrm>
            <a:off x="6858000" y="2011680"/>
            <a:ext cx="4389120" cy="32004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1. Customer Request</a:t>
            </a:r>
            <a:endParaRPr lang="en-US" sz="1100" dirty="0"/>
          </a:p>
        </p:txBody>
      </p:sp>
      <p:sp>
        <p:nvSpPr>
          <p:cNvPr id="21" name="Text 19"/>
          <p:cNvSpPr/>
          <p:nvPr/>
        </p:nvSpPr>
        <p:spPr>
          <a:xfrm>
            <a:off x="6858000" y="233172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Selects verified provider, enters location and scheduling preference. Instant PENDING state with unique tracking ID.</a:t>
            </a:r>
            <a:endParaRPr lang="en-US" sz="1000" dirty="0"/>
          </a:p>
        </p:txBody>
      </p:sp>
      <p:sp>
        <p:nvSpPr>
          <p:cNvPr id="22" name="Shape 20"/>
          <p:cNvSpPr/>
          <p:nvPr/>
        </p:nvSpPr>
        <p:spPr>
          <a:xfrm>
            <a:off x="6675120" y="3246120"/>
            <a:ext cx="4754880" cy="1097280"/>
          </a:xfrm>
          <a:prstGeom prst="roundRect">
            <a:avLst>
              <a:gd name="adj" fmla="val 6667"/>
            </a:avLst>
          </a:prstGeom>
          <a:solidFill>
            <a:srgbClr val="FFFBEB"/>
          </a:solidFill>
          <a:ln w="19050">
            <a:solidFill>
              <a:srgbClr val="FDE68A"/>
            </a:solidFill>
            <a:prstDash val="solid"/>
          </a:ln>
        </p:spPr>
      </p:sp>
      <p:sp>
        <p:nvSpPr>
          <p:cNvPr id="23" name="Text 21"/>
          <p:cNvSpPr/>
          <p:nvPr/>
        </p:nvSpPr>
        <p:spPr>
          <a:xfrm>
            <a:off x="6858000" y="3337560"/>
            <a:ext cx="438912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2. Provider Alert</a:t>
            </a:r>
            <a:endParaRPr lang="en-US" sz="1100" dirty="0"/>
          </a:p>
        </p:txBody>
      </p:sp>
      <p:sp>
        <p:nvSpPr>
          <p:cNvPr id="24" name="Text 22"/>
          <p:cNvSpPr/>
          <p:nvPr/>
        </p:nvSpPr>
        <p:spPr>
          <a:xfrm>
            <a:off x="6858000" y="365760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Incoming real-time banner on Provider Dashboard with full job specs, location distance, and Accept/Reject triggers.</a:t>
            </a:r>
            <a:endParaRPr lang="en-US" sz="1000" dirty="0"/>
          </a:p>
        </p:txBody>
      </p:sp>
      <p:sp>
        <p:nvSpPr>
          <p:cNvPr id="25" name="Shape 23"/>
          <p:cNvSpPr/>
          <p:nvPr/>
        </p:nvSpPr>
        <p:spPr>
          <a:xfrm>
            <a:off x="6675120" y="4572000"/>
            <a:ext cx="4754880" cy="1097280"/>
          </a:xfrm>
          <a:prstGeom prst="roundRect">
            <a:avLst>
              <a:gd name="adj" fmla="val 6667"/>
            </a:avLst>
          </a:prstGeom>
          <a:solidFill>
            <a:srgbClr val="F0FDF4"/>
          </a:solidFill>
          <a:ln w="19050">
            <a:solidFill>
              <a:srgbClr val="86EFAC"/>
            </a:solidFill>
            <a:prstDash val="solid"/>
          </a:ln>
        </p:spPr>
      </p:sp>
      <p:sp>
        <p:nvSpPr>
          <p:cNvPr id="26" name="Text 24"/>
          <p:cNvSpPr/>
          <p:nvPr/>
        </p:nvSpPr>
        <p:spPr>
          <a:xfrm>
            <a:off x="6858000" y="4663440"/>
            <a:ext cx="4389120" cy="320040"/>
          </a:xfrm>
          <a:prstGeom prst="rect">
            <a:avLst/>
          </a:prstGeom>
          <a:noFill/>
          <a:ln/>
        </p:spPr>
        <p:txBody>
          <a:bodyPr wrap="square" rtlCol="0" anchor="ctr"/>
          <a:lstStyle/>
          <a:p>
            <a:pPr indent="0" marL="0">
              <a:buNone/>
            </a:pPr>
            <a:r>
              <a:rPr lang="en-US" sz="1100" b="1" dirty="0">
                <a:solidFill>
                  <a:srgbClr val="16A34A"/>
                </a:solidFill>
                <a:latin typeface="Arial" pitchFamily="34" charset="0"/>
                <a:ea typeface="Arial" pitchFamily="34" charset="-122"/>
                <a:cs typeface="Arial" pitchFamily="34" charset="-120"/>
              </a:rPr>
              <a:t>3. Instant Handshake</a:t>
            </a:r>
            <a:endParaRPr lang="en-US" sz="1100" dirty="0"/>
          </a:p>
        </p:txBody>
      </p:sp>
      <p:sp>
        <p:nvSpPr>
          <p:cNvPr id="27" name="Text 25"/>
          <p:cNvSpPr/>
          <p:nvPr/>
        </p:nvSpPr>
        <p:spPr>
          <a:xfrm>
            <a:off x="6858000" y="498348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Provider accepts: Database updates atomically, response timestamp recorded, customer screen reflects ACCEPTED live.</a:t>
            </a:r>
            <a:endParaRPr lang="en-US" sz="1000" dirty="0"/>
          </a:p>
        </p:txBody>
      </p:sp>
      <p:sp>
        <p:nvSpPr>
          <p:cNvPr id="28" name="Text 26"/>
          <p:cNvSpPr/>
          <p:nvPr/>
        </p:nvSpPr>
        <p:spPr>
          <a:xfrm>
            <a:off x="731520" y="640080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ServiceHub India · Capstone Project · Slide 5 of 12</a:t>
            </a:r>
            <a:endParaRPr lang="en-US" sz="900" dirty="0"/>
          </a:p>
        </p:txBody>
      </p:sp>
      <p:sp>
        <p:nvSpPr>
          <p:cNvPr id="29" name="Text 27"/>
          <p:cNvSpPr/>
          <p:nvPr/>
        </p:nvSpPr>
        <p:spPr>
          <a:xfrm>
            <a:off x="8046720" y="6400800"/>
            <a:ext cx="33832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Academic Evaluation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SECURITY &amp; GOVERNANCE</a:t>
            </a:r>
            <a:endParaRPr lang="en-US" sz="1000" dirty="0"/>
          </a:p>
        </p:txBody>
      </p:sp>
      <p:sp>
        <p:nvSpPr>
          <p:cNvPr id="4" name="Text 2"/>
          <p:cNvSpPr/>
          <p:nvPr/>
        </p:nvSpPr>
        <p:spPr>
          <a:xfrm>
            <a:off x="731520" y="640080"/>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Role-Based Access Control (RBAC) &amp; Governance</a:t>
            </a:r>
            <a:endParaRPr lang="en-US" sz="2200" dirty="0"/>
          </a:p>
        </p:txBody>
      </p:sp>
      <p:sp>
        <p:nvSpPr>
          <p:cNvPr id="5" name="Text 3"/>
          <p:cNvSpPr/>
          <p:nvPr/>
        </p:nvSpPr>
        <p:spPr>
          <a:xfrm>
            <a:off x="731520" y="1188720"/>
            <a:ext cx="1051560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Fine-Grained Permissions Matrix for Multi-Tenant Integrity</a:t>
            </a:r>
            <a:endParaRPr lang="en-US" sz="1200" dirty="0"/>
          </a:p>
        </p:txBody>
      </p:sp>
      <p:sp>
        <p:nvSpPr>
          <p:cNvPr id="6" name="Shape 4"/>
          <p:cNvSpPr/>
          <p:nvPr/>
        </p:nvSpPr>
        <p:spPr>
          <a:xfrm>
            <a:off x="731520" y="1645920"/>
            <a:ext cx="10698480" cy="0"/>
          </a:xfrm>
          <a:prstGeom prst="line">
            <a:avLst/>
          </a:prstGeom>
          <a:noFill/>
          <a:ln w="19050">
            <a:solidFill>
              <a:srgbClr val="E2E8F0"/>
            </a:solidFill>
            <a:prstDash val="solid"/>
          </a:ln>
        </p:spPr>
      </p:sp>
      <p:sp>
        <p:nvSpPr>
          <p:cNvPr id="7" name="Shape 5"/>
          <p:cNvSpPr/>
          <p:nvPr/>
        </p:nvSpPr>
        <p:spPr>
          <a:xfrm>
            <a:off x="731520" y="1920240"/>
            <a:ext cx="5669280" cy="777240"/>
          </a:xfrm>
          <a:prstGeom prst="roundRect">
            <a:avLst>
              <a:gd name="adj" fmla="val 9412"/>
            </a:avLst>
          </a:prstGeom>
          <a:solidFill>
            <a:srgbClr val="FFFFFF"/>
          </a:solidFill>
          <a:ln w="12700">
            <a:solidFill>
              <a:srgbClr val="E2E8F0"/>
            </a:solidFill>
            <a:prstDash val="solid"/>
          </a:ln>
        </p:spPr>
      </p:sp>
      <p:sp>
        <p:nvSpPr>
          <p:cNvPr id="8" name="Shape 6"/>
          <p:cNvSpPr/>
          <p:nvPr/>
        </p:nvSpPr>
        <p:spPr>
          <a:xfrm>
            <a:off x="914400" y="2212848"/>
            <a:ext cx="137160" cy="137160"/>
          </a:xfrm>
          <a:prstGeom prst="ellipse">
            <a:avLst/>
          </a:prstGeom>
          <a:solidFill>
            <a:srgbClr val="2563EB"/>
          </a:solidFill>
          <a:ln/>
        </p:spPr>
      </p:sp>
      <p:sp>
        <p:nvSpPr>
          <p:cNvPr id="9" name="Text 7"/>
          <p:cNvSpPr/>
          <p:nvPr/>
        </p:nvSpPr>
        <p:spPr>
          <a:xfrm>
            <a:off x="1143000" y="1993392"/>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Customer Role: Browse catalogs, book services, view personal bookings, rate providers, access emergency triage.</a:t>
            </a:r>
            <a:endParaRPr lang="en-US" sz="1100" dirty="0"/>
          </a:p>
        </p:txBody>
      </p:sp>
      <p:sp>
        <p:nvSpPr>
          <p:cNvPr id="10" name="Shape 8"/>
          <p:cNvSpPr/>
          <p:nvPr/>
        </p:nvSpPr>
        <p:spPr>
          <a:xfrm>
            <a:off x="731520" y="2816352"/>
            <a:ext cx="5669280" cy="777240"/>
          </a:xfrm>
          <a:prstGeom prst="roundRect">
            <a:avLst>
              <a:gd name="adj" fmla="val 9412"/>
            </a:avLst>
          </a:prstGeom>
          <a:solidFill>
            <a:srgbClr val="FFFFFF"/>
          </a:solidFill>
          <a:ln w="12700">
            <a:solidFill>
              <a:srgbClr val="E2E8F0"/>
            </a:solidFill>
            <a:prstDash val="solid"/>
          </a:ln>
        </p:spPr>
      </p:sp>
      <p:sp>
        <p:nvSpPr>
          <p:cNvPr id="11" name="Shape 9"/>
          <p:cNvSpPr/>
          <p:nvPr/>
        </p:nvSpPr>
        <p:spPr>
          <a:xfrm>
            <a:off x="914400" y="3108960"/>
            <a:ext cx="137160" cy="137160"/>
          </a:xfrm>
          <a:prstGeom prst="ellipse">
            <a:avLst/>
          </a:prstGeom>
          <a:solidFill>
            <a:srgbClr val="2563EB"/>
          </a:solidFill>
          <a:ln/>
        </p:spPr>
      </p:sp>
      <p:sp>
        <p:nvSpPr>
          <p:cNvPr id="12" name="Text 10"/>
          <p:cNvSpPr/>
          <p:nvPr/>
        </p:nvSpPr>
        <p:spPr>
          <a:xfrm>
            <a:off x="1143000" y="2889504"/>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Service Provider Role: Manage professional bio, view eligible booking requests, accept/reject jobs, toggle availability status, track earnings.</a:t>
            </a:r>
            <a:endParaRPr lang="en-US" sz="1100" dirty="0"/>
          </a:p>
        </p:txBody>
      </p:sp>
      <p:sp>
        <p:nvSpPr>
          <p:cNvPr id="13" name="Shape 11"/>
          <p:cNvSpPr/>
          <p:nvPr/>
        </p:nvSpPr>
        <p:spPr>
          <a:xfrm>
            <a:off x="731520" y="3712464"/>
            <a:ext cx="5669280" cy="777240"/>
          </a:xfrm>
          <a:prstGeom prst="roundRect">
            <a:avLst>
              <a:gd name="adj" fmla="val 9412"/>
            </a:avLst>
          </a:prstGeom>
          <a:solidFill>
            <a:srgbClr val="FFFFFF"/>
          </a:solidFill>
          <a:ln w="12700">
            <a:solidFill>
              <a:srgbClr val="E2E8F0"/>
            </a:solidFill>
            <a:prstDash val="solid"/>
          </a:ln>
        </p:spPr>
      </p:sp>
      <p:sp>
        <p:nvSpPr>
          <p:cNvPr id="14" name="Shape 12"/>
          <p:cNvSpPr/>
          <p:nvPr/>
        </p:nvSpPr>
        <p:spPr>
          <a:xfrm>
            <a:off x="914400" y="4005072"/>
            <a:ext cx="137160" cy="137160"/>
          </a:xfrm>
          <a:prstGeom prst="ellipse">
            <a:avLst/>
          </a:prstGeom>
          <a:solidFill>
            <a:srgbClr val="2563EB"/>
          </a:solidFill>
          <a:ln/>
        </p:spPr>
      </p:sp>
      <p:sp>
        <p:nvSpPr>
          <p:cNvPr id="15" name="Text 13"/>
          <p:cNvSpPr/>
          <p:nvPr/>
        </p:nvSpPr>
        <p:spPr>
          <a:xfrm>
            <a:off x="1143000" y="3785616"/>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Platform Admin Role: Audit all marketplace bookings, verify pending provider credentials (Aadhaar, trade license), manage service categories, monitor emergency requests.</a:t>
            </a:r>
            <a:endParaRPr lang="en-US" sz="1100" dirty="0"/>
          </a:p>
        </p:txBody>
      </p:sp>
      <p:sp>
        <p:nvSpPr>
          <p:cNvPr id="16" name="Shape 14"/>
          <p:cNvSpPr/>
          <p:nvPr/>
        </p:nvSpPr>
        <p:spPr>
          <a:xfrm>
            <a:off x="731520" y="4608576"/>
            <a:ext cx="5669280" cy="777240"/>
          </a:xfrm>
          <a:prstGeom prst="roundRect">
            <a:avLst>
              <a:gd name="adj" fmla="val 9412"/>
            </a:avLst>
          </a:prstGeom>
          <a:solidFill>
            <a:srgbClr val="FFFFFF"/>
          </a:solidFill>
          <a:ln w="12700">
            <a:solidFill>
              <a:srgbClr val="E2E8F0"/>
            </a:solidFill>
            <a:prstDash val="solid"/>
          </a:ln>
        </p:spPr>
      </p:sp>
      <p:sp>
        <p:nvSpPr>
          <p:cNvPr id="17" name="Shape 15"/>
          <p:cNvSpPr/>
          <p:nvPr/>
        </p:nvSpPr>
        <p:spPr>
          <a:xfrm>
            <a:off x="914400" y="4901184"/>
            <a:ext cx="137160" cy="137160"/>
          </a:xfrm>
          <a:prstGeom prst="ellipse">
            <a:avLst/>
          </a:prstGeom>
          <a:solidFill>
            <a:srgbClr val="2563EB"/>
          </a:solidFill>
          <a:ln/>
        </p:spPr>
      </p:sp>
      <p:sp>
        <p:nvSpPr>
          <p:cNvPr id="18" name="Text 16"/>
          <p:cNvSpPr/>
          <p:nvPr/>
        </p:nvSpPr>
        <p:spPr>
          <a:xfrm>
            <a:off x="1143000" y="4681728"/>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JWT Authentication &amp; Password Hashing: Bcrypt hashing with salt rounds, stateless signed JWT tokens, and strict HTTP Authorization headers.</a:t>
            </a:r>
            <a:endParaRPr lang="en-US" sz="1100" dirty="0"/>
          </a:p>
        </p:txBody>
      </p:sp>
      <p:sp>
        <p:nvSpPr>
          <p:cNvPr id="19" name="Shape 17"/>
          <p:cNvSpPr/>
          <p:nvPr/>
        </p:nvSpPr>
        <p:spPr>
          <a:xfrm>
            <a:off x="6675120" y="1920240"/>
            <a:ext cx="4754880" cy="1097280"/>
          </a:xfrm>
          <a:prstGeom prst="roundRect">
            <a:avLst>
              <a:gd name="adj" fmla="val 6667"/>
            </a:avLst>
          </a:prstGeom>
          <a:solidFill>
            <a:srgbClr val="FFFFFF"/>
          </a:solidFill>
          <a:ln w="19050">
            <a:solidFill>
              <a:srgbClr val="CBD5E1"/>
            </a:solidFill>
            <a:prstDash val="solid"/>
          </a:ln>
        </p:spPr>
      </p:sp>
      <p:sp>
        <p:nvSpPr>
          <p:cNvPr id="20" name="Text 18"/>
          <p:cNvSpPr/>
          <p:nvPr/>
        </p:nvSpPr>
        <p:spPr>
          <a:xfrm>
            <a:off x="6858000" y="2011680"/>
            <a:ext cx="4389120" cy="32004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Customer (Pooja Sharma)</a:t>
            </a:r>
            <a:endParaRPr lang="en-US" sz="1100" dirty="0"/>
          </a:p>
        </p:txBody>
      </p:sp>
      <p:sp>
        <p:nvSpPr>
          <p:cNvPr id="21" name="Text 19"/>
          <p:cNvSpPr/>
          <p:nvPr/>
        </p:nvSpPr>
        <p:spPr>
          <a:xfrm>
            <a:off x="6858000" y="233172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Booking requests, real-time live status tracking, verified reviews, address management.</a:t>
            </a:r>
            <a:endParaRPr lang="en-US" sz="1000" dirty="0"/>
          </a:p>
        </p:txBody>
      </p:sp>
      <p:sp>
        <p:nvSpPr>
          <p:cNvPr id="22" name="Shape 20"/>
          <p:cNvSpPr/>
          <p:nvPr/>
        </p:nvSpPr>
        <p:spPr>
          <a:xfrm>
            <a:off x="6675120" y="3246120"/>
            <a:ext cx="4754880" cy="1097280"/>
          </a:xfrm>
          <a:prstGeom prst="roundRect">
            <a:avLst>
              <a:gd name="adj" fmla="val 6667"/>
            </a:avLst>
          </a:prstGeom>
          <a:solidFill>
            <a:srgbClr val="F0FDF4"/>
          </a:solidFill>
          <a:ln w="19050">
            <a:solidFill>
              <a:srgbClr val="86EFAC"/>
            </a:solidFill>
            <a:prstDash val="solid"/>
          </a:ln>
        </p:spPr>
      </p:sp>
      <p:sp>
        <p:nvSpPr>
          <p:cNvPr id="23" name="Text 21"/>
          <p:cNvSpPr/>
          <p:nvPr/>
        </p:nvSpPr>
        <p:spPr>
          <a:xfrm>
            <a:off x="6858000" y="3337560"/>
            <a:ext cx="4389120" cy="320040"/>
          </a:xfrm>
          <a:prstGeom prst="rect">
            <a:avLst/>
          </a:prstGeom>
          <a:noFill/>
          <a:ln/>
        </p:spPr>
        <p:txBody>
          <a:bodyPr wrap="square" rtlCol="0" anchor="ctr"/>
          <a:lstStyle/>
          <a:p>
            <a:pPr indent="0" marL="0">
              <a:buNone/>
            </a:pPr>
            <a:r>
              <a:rPr lang="en-US" sz="1100" b="1" dirty="0">
                <a:solidFill>
                  <a:srgbClr val="16A34A"/>
                </a:solidFill>
                <a:latin typeface="Arial" pitchFamily="34" charset="0"/>
                <a:ea typeface="Arial" pitchFamily="34" charset="-122"/>
                <a:cs typeface="Arial" pitchFamily="34" charset="-120"/>
              </a:rPr>
              <a:t>Provider (Rameshwar Patil)</a:t>
            </a:r>
            <a:endParaRPr lang="en-US" sz="1100" dirty="0"/>
          </a:p>
        </p:txBody>
      </p:sp>
      <p:sp>
        <p:nvSpPr>
          <p:cNvPr id="24" name="Text 22"/>
          <p:cNvSpPr/>
          <p:nvPr/>
        </p:nvSpPr>
        <p:spPr>
          <a:xfrm>
            <a:off x="6858000" y="365760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Solar/Agro credentials, booking acceptance desk, earnings tally, emergency repair queue.</a:t>
            </a:r>
            <a:endParaRPr lang="en-US" sz="1000" dirty="0"/>
          </a:p>
        </p:txBody>
      </p:sp>
      <p:sp>
        <p:nvSpPr>
          <p:cNvPr id="25" name="Shape 23"/>
          <p:cNvSpPr/>
          <p:nvPr/>
        </p:nvSpPr>
        <p:spPr>
          <a:xfrm>
            <a:off x="6675120" y="4572000"/>
            <a:ext cx="4754880" cy="1097280"/>
          </a:xfrm>
          <a:prstGeom prst="roundRect">
            <a:avLst>
              <a:gd name="adj" fmla="val 6667"/>
            </a:avLst>
          </a:prstGeom>
          <a:solidFill>
            <a:srgbClr val="FFFBEB"/>
          </a:solidFill>
          <a:ln w="19050">
            <a:solidFill>
              <a:srgbClr val="FDE68A"/>
            </a:solidFill>
            <a:prstDash val="solid"/>
          </a:ln>
        </p:spPr>
      </p:sp>
      <p:sp>
        <p:nvSpPr>
          <p:cNvPr id="26" name="Text 24"/>
          <p:cNvSpPr/>
          <p:nvPr/>
        </p:nvSpPr>
        <p:spPr>
          <a:xfrm>
            <a:off x="6858000" y="4663440"/>
            <a:ext cx="438912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Admin (System Admin)</a:t>
            </a:r>
            <a:endParaRPr lang="en-US" sz="1100" dirty="0"/>
          </a:p>
        </p:txBody>
      </p:sp>
      <p:sp>
        <p:nvSpPr>
          <p:cNvPr id="27" name="Text 25"/>
          <p:cNvSpPr/>
          <p:nvPr/>
        </p:nvSpPr>
        <p:spPr>
          <a:xfrm>
            <a:off x="6858000" y="498348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Document verification desk, platform commission oversight, system metrics &amp; dispute arbitration.</a:t>
            </a:r>
            <a:endParaRPr lang="en-US" sz="1000" dirty="0"/>
          </a:p>
        </p:txBody>
      </p:sp>
      <p:sp>
        <p:nvSpPr>
          <p:cNvPr id="28" name="Text 26"/>
          <p:cNvSpPr/>
          <p:nvPr/>
        </p:nvSpPr>
        <p:spPr>
          <a:xfrm>
            <a:off x="731520" y="640080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ServiceHub India · Capstone Project · Slide 6 of 12</a:t>
            </a:r>
            <a:endParaRPr lang="en-US" sz="900" dirty="0"/>
          </a:p>
        </p:txBody>
      </p:sp>
      <p:sp>
        <p:nvSpPr>
          <p:cNvPr id="29" name="Text 27"/>
          <p:cNvSpPr/>
          <p:nvPr/>
        </p:nvSpPr>
        <p:spPr>
          <a:xfrm>
            <a:off x="8046720" y="6400800"/>
            <a:ext cx="33832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Academic Evaluation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TECHNICAL IMPLEMENTATION</a:t>
            </a:r>
            <a:endParaRPr lang="en-US" sz="1000" dirty="0"/>
          </a:p>
        </p:txBody>
      </p:sp>
      <p:sp>
        <p:nvSpPr>
          <p:cNvPr id="4" name="Text 2"/>
          <p:cNvSpPr/>
          <p:nvPr/>
        </p:nvSpPr>
        <p:spPr>
          <a:xfrm>
            <a:off x="731520" y="640080"/>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Full-Stack Architecture &amp; Technology Stack</a:t>
            </a:r>
            <a:endParaRPr lang="en-US" sz="2200" dirty="0"/>
          </a:p>
        </p:txBody>
      </p:sp>
      <p:sp>
        <p:nvSpPr>
          <p:cNvPr id="5" name="Text 3"/>
          <p:cNvSpPr/>
          <p:nvPr/>
        </p:nvSpPr>
        <p:spPr>
          <a:xfrm>
            <a:off x="731520" y="1188720"/>
            <a:ext cx="1051560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Engineered for Sub-Second Response Times, Low Bandwidth, and Zero-Downtime Reliability</a:t>
            </a:r>
            <a:endParaRPr lang="en-US" sz="1200" dirty="0"/>
          </a:p>
        </p:txBody>
      </p:sp>
      <p:sp>
        <p:nvSpPr>
          <p:cNvPr id="6" name="Shape 4"/>
          <p:cNvSpPr/>
          <p:nvPr/>
        </p:nvSpPr>
        <p:spPr>
          <a:xfrm>
            <a:off x="731520" y="1645920"/>
            <a:ext cx="10698480" cy="0"/>
          </a:xfrm>
          <a:prstGeom prst="line">
            <a:avLst/>
          </a:prstGeom>
          <a:noFill/>
          <a:ln w="19050">
            <a:solidFill>
              <a:srgbClr val="E2E8F0"/>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10698480" cy="914400"/>
        </p:xfrm>
        <a:graphic>
          <a:graphicData uri="http://schemas.openxmlformats.org/drawingml/2006/table">
            <a:tbl>
              <a:tblPr/>
              <a:tblGrid>
                <a:gridCol w="3566160"/>
                <a:gridCol w="3566160"/>
                <a:gridCol w="3566160"/>
              </a:tblGrid>
              <a:tr h="365760">
                <a:tc>
                  <a:txBody>
                    <a:bodyPr/>
                    <a:lstStyle/>
                    <a:p>
                      <a:pPr algn="l" indent="0" marL="0">
                        <a:buNone/>
                      </a:pPr>
                      <a:r>
                        <a:rPr lang="en-US" sz="1100" b="1" dirty="0">
                          <a:solidFill>
                            <a:srgbClr val="FFFFFF"/>
                          </a:solidFill>
                        </a:rPr>
                        <a:t>Layer</a:t>
                      </a:r>
                      <a:endParaRPr lang="en-US" sz="11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c>
                  <a:txBody>
                    <a:bodyPr/>
                    <a:lstStyle/>
                    <a:p>
                      <a:pPr algn="l" indent="0" marL="0">
                        <a:buNone/>
                      </a:pPr>
                      <a:r>
                        <a:rPr lang="en-US" sz="1100" b="1" dirty="0">
                          <a:solidFill>
                            <a:srgbClr val="FFFFFF"/>
                          </a:solidFill>
                        </a:rPr>
                        <a:t>Technology</a:t>
                      </a:r>
                      <a:endParaRPr lang="en-US" sz="11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c>
                  <a:txBody>
                    <a:bodyPr/>
                    <a:lstStyle/>
                    <a:p>
                      <a:pPr algn="l" indent="0" marL="0">
                        <a:buNone/>
                      </a:pPr>
                      <a:r>
                        <a:rPr lang="en-US" sz="1100" b="1" dirty="0">
                          <a:solidFill>
                            <a:srgbClr val="FFFFFF"/>
                          </a:solidFill>
                        </a:rPr>
                        <a:t>Role &amp; Rationale</a:t>
                      </a:r>
                      <a:endParaRPr lang="en-US" sz="11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r>
              <a:tr h="365760">
                <a:tc>
                  <a:txBody>
                    <a:bodyPr/>
                    <a:lstStyle/>
                    <a:p>
                      <a:pPr algn="l" indent="0" marL="0">
                        <a:buNone/>
                      </a:pPr>
                      <a:r>
                        <a:rPr lang="en-US" sz="1000" dirty="0">
                          <a:solidFill>
                            <a:srgbClr val="1E293B"/>
                          </a:solidFill>
                        </a:rPr>
                        <a:t>Client Layer</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rPr>
                        <a:t>React 19 + TypeScript</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rPr>
                        <a:t>Type-safe UI components, instant reactive state updates</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1E293B"/>
                          </a:solidFill>
                        </a:rPr>
                        <a:t>Styling System</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1000" dirty="0">
                          <a:solidFill>
                            <a:srgbClr val="1E293B"/>
                          </a:solidFill>
                        </a:rPr>
                        <a:t>Tailwind CSS v4</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1000" dirty="0">
                          <a:solidFill>
                            <a:srgbClr val="1E293B"/>
                          </a:solidFill>
                        </a:rPr>
                        <a:t>Zero-runtime utility CSS, responsive mobile-first layouts</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365760">
                <a:tc>
                  <a:txBody>
                    <a:bodyPr/>
                    <a:lstStyle/>
                    <a:p>
                      <a:pPr algn="l" indent="0" marL="0">
                        <a:buNone/>
                      </a:pPr>
                      <a:r>
                        <a:rPr lang="en-US" sz="1000" dirty="0">
                          <a:solidFill>
                            <a:srgbClr val="1E293B"/>
                          </a:solidFill>
                        </a:rPr>
                        <a:t>API &amp; Middleware</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rPr>
                        <a:t>Express.js + tsx</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rPr>
                        <a:t>RESTful routing, JWT auth guards, real-time dispatch</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1E293B"/>
                          </a:solidFill>
                        </a:rPr>
                        <a:t>Persistence</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1000" dirty="0">
                          <a:solidFill>
                            <a:srgbClr val="1E293B"/>
                          </a:solidFill>
                        </a:rPr>
                        <a:t>Better-SQLite3 (WAL)</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1000" dirty="0">
                          <a:solidFill>
                            <a:srgbClr val="1E293B"/>
                          </a:solidFill>
                        </a:rPr>
                        <a:t>ACID-compliant transactions, sub-millisecond local reads</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365760">
                <a:tc>
                  <a:txBody>
                    <a:bodyPr/>
                    <a:lstStyle/>
                    <a:p>
                      <a:pPr algn="l" indent="0" marL="0">
                        <a:buNone/>
                      </a:pPr>
                      <a:r>
                        <a:rPr lang="en-US" sz="1000" dirty="0">
                          <a:solidFill>
                            <a:srgbClr val="1E293B"/>
                          </a:solidFill>
                        </a:rPr>
                        <a:t>Document Generation</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rPr>
                        <a:t>PptxGenJS</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rPr>
                        <a:t>In-browser vector-based PowerPoint presentation compilation</a:t>
                      </a:r>
                      <a:endParaRPr lang="en-US" sz="1000" dirty="0"/>
                    </a:p>
                  </a:txBody>
                  <a:tcPr marL="101600" marR="101600" marT="63500" marB="635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Text 5"/>
          <p:cNvSpPr/>
          <p:nvPr/>
        </p:nvSpPr>
        <p:spPr>
          <a:xfrm>
            <a:off x="731520" y="4754880"/>
            <a:ext cx="10698480" cy="32004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Frontend: React 19 SPA, TypeScript, Tailwind CSS v4, Motion animations, Lucide icons.</a:t>
            </a:r>
            <a:endParaRPr lang="en-US" sz="1000" dirty="0"/>
          </a:p>
        </p:txBody>
      </p:sp>
      <p:sp>
        <p:nvSpPr>
          <p:cNvPr id="9" name="Text 6"/>
          <p:cNvSpPr/>
          <p:nvPr/>
        </p:nvSpPr>
        <p:spPr>
          <a:xfrm>
            <a:off x="731520" y="5120640"/>
            <a:ext cx="10698480" cy="32004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Backend Server: Node.js Express 4.x running hybrid Vite middleware with modular RESTful router endpoints.</a:t>
            </a:r>
            <a:endParaRPr lang="en-US" sz="1000" dirty="0"/>
          </a:p>
        </p:txBody>
      </p:sp>
      <p:sp>
        <p:nvSpPr>
          <p:cNvPr id="10" name="Text 7"/>
          <p:cNvSpPr/>
          <p:nvPr/>
        </p:nvSpPr>
        <p:spPr>
          <a:xfrm>
            <a:off x="731520" y="5486400"/>
            <a:ext cx="10698480" cy="32004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Database Engine: Better-SQLite3 with Write-Ahead Logging (WAL) for high-concurrency read/write transactions.</a:t>
            </a:r>
            <a:endParaRPr lang="en-US" sz="1000" dirty="0"/>
          </a:p>
        </p:txBody>
      </p:sp>
      <p:sp>
        <p:nvSpPr>
          <p:cNvPr id="11" name="Text 8"/>
          <p:cNvSpPr/>
          <p:nvPr/>
        </p:nvSpPr>
        <p:spPr>
          <a:xfrm>
            <a:off x="731520" y="5852160"/>
            <a:ext cx="10698480" cy="32004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Client Build &amp; Bundle: Vite 8 with ESBuild for sub-100ms hot reload and lightweight single-page bundle.</a:t>
            </a:r>
            <a:endParaRPr lang="en-US" sz="1000" dirty="0"/>
          </a:p>
        </p:txBody>
      </p:sp>
      <p:sp>
        <p:nvSpPr>
          <p:cNvPr id="12" name="Text 9"/>
          <p:cNvSpPr/>
          <p:nvPr/>
        </p:nvSpPr>
        <p:spPr>
          <a:xfrm>
            <a:off x="731520" y="640080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ServiceHub India · Capstone Project · Slide 7 of 12</a:t>
            </a:r>
            <a:endParaRPr lang="en-US" sz="900" dirty="0"/>
          </a:p>
        </p:txBody>
      </p:sp>
      <p:sp>
        <p:nvSpPr>
          <p:cNvPr id="13" name="Text 10"/>
          <p:cNvSpPr/>
          <p:nvPr/>
        </p:nvSpPr>
        <p:spPr>
          <a:xfrm>
            <a:off x="8046720" y="6400800"/>
            <a:ext cx="33832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Academic Evaluation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DATABASE DESIGN</a:t>
            </a:r>
            <a:endParaRPr lang="en-US" sz="1000" dirty="0"/>
          </a:p>
        </p:txBody>
      </p:sp>
      <p:sp>
        <p:nvSpPr>
          <p:cNvPr id="4" name="Text 2"/>
          <p:cNvSpPr/>
          <p:nvPr/>
        </p:nvSpPr>
        <p:spPr>
          <a:xfrm>
            <a:off x="731520" y="640080"/>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Relational Database Schema &amp; Entity Modeling</a:t>
            </a:r>
            <a:endParaRPr lang="en-US" sz="2200" dirty="0"/>
          </a:p>
        </p:txBody>
      </p:sp>
      <p:sp>
        <p:nvSpPr>
          <p:cNvPr id="5" name="Text 3"/>
          <p:cNvSpPr/>
          <p:nvPr/>
        </p:nvSpPr>
        <p:spPr>
          <a:xfrm>
            <a:off x="731520" y="1188720"/>
            <a:ext cx="1051560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ACID-Compliant Relational Design with Cascading Constraints and Auditing Timestamps</a:t>
            </a:r>
            <a:endParaRPr lang="en-US" sz="1200" dirty="0"/>
          </a:p>
        </p:txBody>
      </p:sp>
      <p:sp>
        <p:nvSpPr>
          <p:cNvPr id="6" name="Shape 4"/>
          <p:cNvSpPr/>
          <p:nvPr/>
        </p:nvSpPr>
        <p:spPr>
          <a:xfrm>
            <a:off x="731520" y="1645920"/>
            <a:ext cx="10698480" cy="0"/>
          </a:xfrm>
          <a:prstGeom prst="line">
            <a:avLst/>
          </a:prstGeom>
          <a:noFill/>
          <a:ln w="19050">
            <a:solidFill>
              <a:srgbClr val="E2E8F0"/>
            </a:solidFill>
            <a:prstDash val="solid"/>
          </a:ln>
        </p:spPr>
      </p:sp>
      <p:sp>
        <p:nvSpPr>
          <p:cNvPr id="7" name="Shape 5"/>
          <p:cNvSpPr/>
          <p:nvPr/>
        </p:nvSpPr>
        <p:spPr>
          <a:xfrm>
            <a:off x="731520" y="1920240"/>
            <a:ext cx="5669280" cy="777240"/>
          </a:xfrm>
          <a:prstGeom prst="roundRect">
            <a:avLst>
              <a:gd name="adj" fmla="val 9412"/>
            </a:avLst>
          </a:prstGeom>
          <a:solidFill>
            <a:srgbClr val="FFFFFF"/>
          </a:solidFill>
          <a:ln w="12700">
            <a:solidFill>
              <a:srgbClr val="E2E8F0"/>
            </a:solidFill>
            <a:prstDash val="solid"/>
          </a:ln>
        </p:spPr>
      </p:sp>
      <p:sp>
        <p:nvSpPr>
          <p:cNvPr id="8" name="Shape 6"/>
          <p:cNvSpPr/>
          <p:nvPr/>
        </p:nvSpPr>
        <p:spPr>
          <a:xfrm>
            <a:off x="914400" y="2212848"/>
            <a:ext cx="137160" cy="137160"/>
          </a:xfrm>
          <a:prstGeom prst="ellipse">
            <a:avLst/>
          </a:prstGeom>
          <a:solidFill>
            <a:srgbClr val="2563EB"/>
          </a:solidFill>
          <a:ln/>
        </p:spPr>
      </p:sp>
      <p:sp>
        <p:nvSpPr>
          <p:cNvPr id="9" name="Text 7"/>
          <p:cNvSpPr/>
          <p:nvPr/>
        </p:nvSpPr>
        <p:spPr>
          <a:xfrm>
            <a:off x="1143000" y="1993392"/>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Normalized Relational Structure: Fully indexed tables with foreign key constraints ensuring referential integrity.</a:t>
            </a:r>
            <a:endParaRPr lang="en-US" sz="1100" dirty="0"/>
          </a:p>
        </p:txBody>
      </p:sp>
      <p:sp>
        <p:nvSpPr>
          <p:cNvPr id="10" name="Shape 8"/>
          <p:cNvSpPr/>
          <p:nvPr/>
        </p:nvSpPr>
        <p:spPr>
          <a:xfrm>
            <a:off x="731520" y="2816352"/>
            <a:ext cx="5669280" cy="777240"/>
          </a:xfrm>
          <a:prstGeom prst="roundRect">
            <a:avLst>
              <a:gd name="adj" fmla="val 9412"/>
            </a:avLst>
          </a:prstGeom>
          <a:solidFill>
            <a:srgbClr val="FFFFFF"/>
          </a:solidFill>
          <a:ln w="12700">
            <a:solidFill>
              <a:srgbClr val="E2E8F0"/>
            </a:solidFill>
            <a:prstDash val="solid"/>
          </a:ln>
        </p:spPr>
      </p:sp>
      <p:sp>
        <p:nvSpPr>
          <p:cNvPr id="11" name="Shape 9"/>
          <p:cNvSpPr/>
          <p:nvPr/>
        </p:nvSpPr>
        <p:spPr>
          <a:xfrm>
            <a:off x="914400" y="3108960"/>
            <a:ext cx="137160" cy="137160"/>
          </a:xfrm>
          <a:prstGeom prst="ellipse">
            <a:avLst/>
          </a:prstGeom>
          <a:solidFill>
            <a:srgbClr val="2563EB"/>
          </a:solidFill>
          <a:ln/>
        </p:spPr>
      </p:sp>
      <p:sp>
        <p:nvSpPr>
          <p:cNvPr id="12" name="Text 10"/>
          <p:cNvSpPr/>
          <p:nvPr/>
        </p:nvSpPr>
        <p:spPr>
          <a:xfrm>
            <a:off x="1143000" y="2889504"/>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users: Central auth store with role enum (CUSTOMER, SERVICE_PROVIDER, ADMIN) and profile metadata.</a:t>
            </a:r>
            <a:endParaRPr lang="en-US" sz="1100" dirty="0"/>
          </a:p>
        </p:txBody>
      </p:sp>
      <p:sp>
        <p:nvSpPr>
          <p:cNvPr id="13" name="Shape 11"/>
          <p:cNvSpPr/>
          <p:nvPr/>
        </p:nvSpPr>
        <p:spPr>
          <a:xfrm>
            <a:off x="731520" y="3712464"/>
            <a:ext cx="5669280" cy="777240"/>
          </a:xfrm>
          <a:prstGeom prst="roundRect">
            <a:avLst>
              <a:gd name="adj" fmla="val 9412"/>
            </a:avLst>
          </a:prstGeom>
          <a:solidFill>
            <a:srgbClr val="FFFFFF"/>
          </a:solidFill>
          <a:ln w="12700">
            <a:solidFill>
              <a:srgbClr val="E2E8F0"/>
            </a:solidFill>
            <a:prstDash val="solid"/>
          </a:ln>
        </p:spPr>
      </p:sp>
      <p:sp>
        <p:nvSpPr>
          <p:cNvPr id="14" name="Shape 12"/>
          <p:cNvSpPr/>
          <p:nvPr/>
        </p:nvSpPr>
        <p:spPr>
          <a:xfrm>
            <a:off x="914400" y="4005072"/>
            <a:ext cx="137160" cy="137160"/>
          </a:xfrm>
          <a:prstGeom prst="ellipse">
            <a:avLst/>
          </a:prstGeom>
          <a:solidFill>
            <a:srgbClr val="2563EB"/>
          </a:solidFill>
          <a:ln/>
        </p:spPr>
      </p:sp>
      <p:sp>
        <p:nvSpPr>
          <p:cNvPr id="15" name="Text 13"/>
          <p:cNvSpPr/>
          <p:nvPr/>
        </p:nvSpPr>
        <p:spPr>
          <a:xfrm>
            <a:off x="1143000" y="3785616"/>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provider_profiles: Business entity with Aadhaar verification status, experience, hourly rate, and service areas.</a:t>
            </a:r>
            <a:endParaRPr lang="en-US" sz="1100" dirty="0"/>
          </a:p>
        </p:txBody>
      </p:sp>
      <p:sp>
        <p:nvSpPr>
          <p:cNvPr id="16" name="Shape 14"/>
          <p:cNvSpPr/>
          <p:nvPr/>
        </p:nvSpPr>
        <p:spPr>
          <a:xfrm>
            <a:off x="731520" y="4608576"/>
            <a:ext cx="5669280" cy="777240"/>
          </a:xfrm>
          <a:prstGeom prst="roundRect">
            <a:avLst>
              <a:gd name="adj" fmla="val 9412"/>
            </a:avLst>
          </a:prstGeom>
          <a:solidFill>
            <a:srgbClr val="FFFFFF"/>
          </a:solidFill>
          <a:ln w="12700">
            <a:solidFill>
              <a:srgbClr val="E2E8F0"/>
            </a:solidFill>
            <a:prstDash val="solid"/>
          </a:ln>
        </p:spPr>
      </p:sp>
      <p:sp>
        <p:nvSpPr>
          <p:cNvPr id="17" name="Shape 15"/>
          <p:cNvSpPr/>
          <p:nvPr/>
        </p:nvSpPr>
        <p:spPr>
          <a:xfrm>
            <a:off x="914400" y="4901184"/>
            <a:ext cx="137160" cy="137160"/>
          </a:xfrm>
          <a:prstGeom prst="ellipse">
            <a:avLst/>
          </a:prstGeom>
          <a:solidFill>
            <a:srgbClr val="2563EB"/>
          </a:solidFill>
          <a:ln/>
        </p:spPr>
      </p:sp>
      <p:sp>
        <p:nvSpPr>
          <p:cNvPr id="18" name="Text 16"/>
          <p:cNvSpPr/>
          <p:nvPr/>
        </p:nvSpPr>
        <p:spPr>
          <a:xfrm>
            <a:off x="1143000" y="4681728"/>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bookings &amp; emergency_requests: Auditable transaction logs with timestamped state progressions.</a:t>
            </a:r>
            <a:endParaRPr lang="en-US" sz="1100" dirty="0"/>
          </a:p>
        </p:txBody>
      </p:sp>
      <p:sp>
        <p:nvSpPr>
          <p:cNvPr id="19" name="Shape 17"/>
          <p:cNvSpPr/>
          <p:nvPr/>
        </p:nvSpPr>
        <p:spPr>
          <a:xfrm>
            <a:off x="731520" y="5504688"/>
            <a:ext cx="5669280" cy="777240"/>
          </a:xfrm>
          <a:prstGeom prst="roundRect">
            <a:avLst>
              <a:gd name="adj" fmla="val 9412"/>
            </a:avLst>
          </a:prstGeom>
          <a:solidFill>
            <a:srgbClr val="FFFFFF"/>
          </a:solidFill>
          <a:ln w="12700">
            <a:solidFill>
              <a:srgbClr val="E2E8F0"/>
            </a:solidFill>
            <a:prstDash val="solid"/>
          </a:ln>
        </p:spPr>
      </p:sp>
      <p:sp>
        <p:nvSpPr>
          <p:cNvPr id="20" name="Shape 18"/>
          <p:cNvSpPr/>
          <p:nvPr/>
        </p:nvSpPr>
        <p:spPr>
          <a:xfrm>
            <a:off x="914400" y="5797296"/>
            <a:ext cx="137160" cy="137160"/>
          </a:xfrm>
          <a:prstGeom prst="ellipse">
            <a:avLst/>
          </a:prstGeom>
          <a:solidFill>
            <a:srgbClr val="2563EB"/>
          </a:solidFill>
          <a:ln/>
        </p:spPr>
      </p:sp>
      <p:sp>
        <p:nvSpPr>
          <p:cNvPr id="21" name="Text 19"/>
          <p:cNvSpPr/>
          <p:nvPr/>
        </p:nvSpPr>
        <p:spPr>
          <a:xfrm>
            <a:off x="1143000" y="5577840"/>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reviews &amp; notifications: User feedback loop and in-app event notification queue.</a:t>
            </a:r>
            <a:endParaRPr lang="en-US" sz="1100" dirty="0"/>
          </a:p>
        </p:txBody>
      </p:sp>
      <p:sp>
        <p:nvSpPr>
          <p:cNvPr id="22" name="Shape 20"/>
          <p:cNvSpPr/>
          <p:nvPr/>
        </p:nvSpPr>
        <p:spPr>
          <a:xfrm>
            <a:off x="6675120" y="1920240"/>
            <a:ext cx="4754880" cy="1097280"/>
          </a:xfrm>
          <a:prstGeom prst="roundRect">
            <a:avLst>
              <a:gd name="adj" fmla="val 6667"/>
            </a:avLst>
          </a:prstGeom>
          <a:solidFill>
            <a:srgbClr val="FFFFFF"/>
          </a:solidFill>
          <a:ln w="19050">
            <a:solidFill>
              <a:srgbClr val="CBD5E1"/>
            </a:solidFill>
            <a:prstDash val="solid"/>
          </a:ln>
        </p:spPr>
      </p:sp>
      <p:sp>
        <p:nvSpPr>
          <p:cNvPr id="23" name="Text 21"/>
          <p:cNvSpPr/>
          <p:nvPr/>
        </p:nvSpPr>
        <p:spPr>
          <a:xfrm>
            <a:off x="6858000" y="2011680"/>
            <a:ext cx="4389120" cy="32004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Core Tables</a:t>
            </a:r>
            <a:endParaRPr lang="en-US" sz="1100" dirty="0"/>
          </a:p>
        </p:txBody>
      </p:sp>
      <p:sp>
        <p:nvSpPr>
          <p:cNvPr id="24" name="Text 22"/>
          <p:cNvSpPr/>
          <p:nvPr/>
        </p:nvSpPr>
        <p:spPr>
          <a:xfrm>
            <a:off x="6858000" y="233172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users, provider_profiles, categories, services, bookings, emergency_requests, reviews, notifications.</a:t>
            </a:r>
            <a:endParaRPr lang="en-US" sz="1000" dirty="0"/>
          </a:p>
        </p:txBody>
      </p:sp>
      <p:sp>
        <p:nvSpPr>
          <p:cNvPr id="25" name="Shape 23"/>
          <p:cNvSpPr/>
          <p:nvPr/>
        </p:nvSpPr>
        <p:spPr>
          <a:xfrm>
            <a:off x="6675120" y="3246120"/>
            <a:ext cx="4754880" cy="1097280"/>
          </a:xfrm>
          <a:prstGeom prst="roundRect">
            <a:avLst>
              <a:gd name="adj" fmla="val 6667"/>
            </a:avLst>
          </a:prstGeom>
          <a:solidFill>
            <a:srgbClr val="F0FDF4"/>
          </a:solidFill>
          <a:ln w="19050">
            <a:solidFill>
              <a:srgbClr val="86EFAC"/>
            </a:solidFill>
            <a:prstDash val="solid"/>
          </a:ln>
        </p:spPr>
      </p:sp>
      <p:sp>
        <p:nvSpPr>
          <p:cNvPr id="26" name="Text 24"/>
          <p:cNvSpPr/>
          <p:nvPr/>
        </p:nvSpPr>
        <p:spPr>
          <a:xfrm>
            <a:off x="6858000" y="3337560"/>
            <a:ext cx="4389120" cy="320040"/>
          </a:xfrm>
          <a:prstGeom prst="rect">
            <a:avLst/>
          </a:prstGeom>
          <a:noFill/>
          <a:ln/>
        </p:spPr>
        <p:txBody>
          <a:bodyPr wrap="square" rtlCol="0" anchor="ctr"/>
          <a:lstStyle/>
          <a:p>
            <a:pPr indent="0" marL="0">
              <a:buNone/>
            </a:pPr>
            <a:r>
              <a:rPr lang="en-US" sz="1100" b="1" dirty="0">
                <a:solidFill>
                  <a:srgbClr val="16A34A"/>
                </a:solidFill>
                <a:latin typeface="Arial" pitchFamily="34" charset="0"/>
                <a:ea typeface="Arial" pitchFamily="34" charset="-122"/>
                <a:cs typeface="Arial" pitchFamily="34" charset="-120"/>
              </a:rPr>
              <a:t>Data Integrity</a:t>
            </a:r>
            <a:endParaRPr lang="en-US" sz="1100" dirty="0"/>
          </a:p>
        </p:txBody>
      </p:sp>
      <p:sp>
        <p:nvSpPr>
          <p:cNvPr id="27" name="Text 25"/>
          <p:cNvSpPr/>
          <p:nvPr/>
        </p:nvSpPr>
        <p:spPr>
          <a:xfrm>
            <a:off x="6858000" y="365760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Foreign key constraints, check constraints on status enums, indexed provider_id and customer_id.</a:t>
            </a:r>
            <a:endParaRPr lang="en-US" sz="1000" dirty="0"/>
          </a:p>
        </p:txBody>
      </p:sp>
      <p:sp>
        <p:nvSpPr>
          <p:cNvPr id="28" name="Shape 26"/>
          <p:cNvSpPr/>
          <p:nvPr/>
        </p:nvSpPr>
        <p:spPr>
          <a:xfrm>
            <a:off x="6675120" y="4572000"/>
            <a:ext cx="4754880" cy="1097280"/>
          </a:xfrm>
          <a:prstGeom prst="roundRect">
            <a:avLst>
              <a:gd name="adj" fmla="val 6667"/>
            </a:avLst>
          </a:prstGeom>
          <a:solidFill>
            <a:srgbClr val="FFFBEB"/>
          </a:solidFill>
          <a:ln w="19050">
            <a:solidFill>
              <a:srgbClr val="FDE68A"/>
            </a:solidFill>
            <a:prstDash val="solid"/>
          </a:ln>
        </p:spPr>
      </p:sp>
      <p:sp>
        <p:nvSpPr>
          <p:cNvPr id="29" name="Text 27"/>
          <p:cNvSpPr/>
          <p:nvPr/>
        </p:nvSpPr>
        <p:spPr>
          <a:xfrm>
            <a:off x="6858000" y="4663440"/>
            <a:ext cx="438912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Audit Trail</a:t>
            </a:r>
            <a:endParaRPr lang="en-US" sz="1100" dirty="0"/>
          </a:p>
        </p:txBody>
      </p:sp>
      <p:sp>
        <p:nvSpPr>
          <p:cNvPr id="30" name="Text 28"/>
          <p:cNvSpPr/>
          <p:nvPr/>
        </p:nvSpPr>
        <p:spPr>
          <a:xfrm>
            <a:off x="6858000" y="498348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created_at, updated_at, and provider_response_time captured for every booking lifecycle event.</a:t>
            </a:r>
            <a:endParaRPr lang="en-US" sz="1000" dirty="0"/>
          </a:p>
        </p:txBody>
      </p:sp>
      <p:sp>
        <p:nvSpPr>
          <p:cNvPr id="31" name="Text 29"/>
          <p:cNvSpPr/>
          <p:nvPr/>
        </p:nvSpPr>
        <p:spPr>
          <a:xfrm>
            <a:off x="731520" y="640080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ServiceHub India · Capstone Project · Slide 8 of 12</a:t>
            </a:r>
            <a:endParaRPr lang="en-US" sz="900" dirty="0"/>
          </a:p>
        </p:txBody>
      </p:sp>
      <p:sp>
        <p:nvSpPr>
          <p:cNvPr id="32" name="Text 30"/>
          <p:cNvSpPr/>
          <p:nvPr/>
        </p:nvSpPr>
        <p:spPr>
          <a:xfrm>
            <a:off x="8046720" y="6400800"/>
            <a:ext cx="33832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Academic Evaluation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VERIFICATION &amp; TESTING</a:t>
            </a:r>
            <a:endParaRPr lang="en-US" sz="1000" dirty="0"/>
          </a:p>
        </p:txBody>
      </p:sp>
      <p:sp>
        <p:nvSpPr>
          <p:cNvPr id="4" name="Text 2"/>
          <p:cNvSpPr/>
          <p:nvPr/>
        </p:nvSpPr>
        <p:spPr>
          <a:xfrm>
            <a:off x="731520" y="640080"/>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Comprehensive Verification &amp; Test Results</a:t>
            </a:r>
            <a:endParaRPr lang="en-US" sz="2200" dirty="0"/>
          </a:p>
        </p:txBody>
      </p:sp>
      <p:sp>
        <p:nvSpPr>
          <p:cNvPr id="5" name="Text 3"/>
          <p:cNvSpPr/>
          <p:nvPr/>
        </p:nvSpPr>
        <p:spPr>
          <a:xfrm>
            <a:off x="731520" y="1188720"/>
            <a:ext cx="1051560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Validation Across Real-Time Sync, Concurrency, and Emergency Scenarios</a:t>
            </a:r>
            <a:endParaRPr lang="en-US" sz="1200" dirty="0"/>
          </a:p>
        </p:txBody>
      </p:sp>
      <p:sp>
        <p:nvSpPr>
          <p:cNvPr id="6" name="Shape 4"/>
          <p:cNvSpPr/>
          <p:nvPr/>
        </p:nvSpPr>
        <p:spPr>
          <a:xfrm>
            <a:off x="731520" y="1645920"/>
            <a:ext cx="10698480" cy="0"/>
          </a:xfrm>
          <a:prstGeom prst="line">
            <a:avLst/>
          </a:prstGeom>
          <a:noFill/>
          <a:ln w="19050">
            <a:solidFill>
              <a:srgbClr val="E2E8F0"/>
            </a:solidFill>
            <a:prstDash val="solid"/>
          </a:ln>
        </p:spPr>
      </p:sp>
      <p:sp>
        <p:nvSpPr>
          <p:cNvPr id="7" name="Shape 5"/>
          <p:cNvSpPr/>
          <p:nvPr/>
        </p:nvSpPr>
        <p:spPr>
          <a:xfrm>
            <a:off x="731520" y="1920240"/>
            <a:ext cx="5669280" cy="777240"/>
          </a:xfrm>
          <a:prstGeom prst="roundRect">
            <a:avLst>
              <a:gd name="adj" fmla="val 9412"/>
            </a:avLst>
          </a:prstGeom>
          <a:solidFill>
            <a:srgbClr val="FFFFFF"/>
          </a:solidFill>
          <a:ln w="12700">
            <a:solidFill>
              <a:srgbClr val="E2E8F0"/>
            </a:solidFill>
            <a:prstDash val="solid"/>
          </a:ln>
        </p:spPr>
      </p:sp>
      <p:sp>
        <p:nvSpPr>
          <p:cNvPr id="8" name="Shape 6"/>
          <p:cNvSpPr/>
          <p:nvPr/>
        </p:nvSpPr>
        <p:spPr>
          <a:xfrm>
            <a:off x="914400" y="2212848"/>
            <a:ext cx="137160" cy="137160"/>
          </a:xfrm>
          <a:prstGeom prst="ellipse">
            <a:avLst/>
          </a:prstGeom>
          <a:solidFill>
            <a:srgbClr val="2563EB"/>
          </a:solidFill>
          <a:ln/>
        </p:spPr>
      </p:sp>
      <p:sp>
        <p:nvSpPr>
          <p:cNvPr id="9" name="Text 7"/>
          <p:cNvSpPr/>
          <p:nvPr/>
        </p:nvSpPr>
        <p:spPr>
          <a:xfrm>
            <a:off x="1143000" y="1993392"/>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Emergency Access Test: Verified instant opening of Gas Leakage guidance with zero login, zero payment, and direct 1906 calling (PASSED).</a:t>
            </a:r>
            <a:endParaRPr lang="en-US" sz="1100" dirty="0"/>
          </a:p>
        </p:txBody>
      </p:sp>
      <p:sp>
        <p:nvSpPr>
          <p:cNvPr id="10" name="Shape 8"/>
          <p:cNvSpPr/>
          <p:nvPr/>
        </p:nvSpPr>
        <p:spPr>
          <a:xfrm>
            <a:off x="731520" y="2816352"/>
            <a:ext cx="5669280" cy="777240"/>
          </a:xfrm>
          <a:prstGeom prst="roundRect">
            <a:avLst>
              <a:gd name="adj" fmla="val 9412"/>
            </a:avLst>
          </a:prstGeom>
          <a:solidFill>
            <a:srgbClr val="FFFFFF"/>
          </a:solidFill>
          <a:ln w="12700">
            <a:solidFill>
              <a:srgbClr val="E2E8F0"/>
            </a:solidFill>
            <a:prstDash val="solid"/>
          </a:ln>
        </p:spPr>
      </p:sp>
      <p:sp>
        <p:nvSpPr>
          <p:cNvPr id="11" name="Shape 9"/>
          <p:cNvSpPr/>
          <p:nvPr/>
        </p:nvSpPr>
        <p:spPr>
          <a:xfrm>
            <a:off x="914400" y="3108960"/>
            <a:ext cx="137160" cy="137160"/>
          </a:xfrm>
          <a:prstGeom prst="ellipse">
            <a:avLst/>
          </a:prstGeom>
          <a:solidFill>
            <a:srgbClr val="2563EB"/>
          </a:solidFill>
          <a:ln/>
        </p:spPr>
      </p:sp>
      <p:sp>
        <p:nvSpPr>
          <p:cNvPr id="12" name="Text 10"/>
          <p:cNvSpPr/>
          <p:nvPr/>
        </p:nvSpPr>
        <p:spPr>
          <a:xfrm>
            <a:off x="1143000" y="2889504"/>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Dual-Account Real-Time Sync: Customer submitted booking; Provider dashboard reflected request in &lt;150ms without refresh (PASSED).</a:t>
            </a:r>
            <a:endParaRPr lang="en-US" sz="1100" dirty="0"/>
          </a:p>
        </p:txBody>
      </p:sp>
      <p:sp>
        <p:nvSpPr>
          <p:cNvPr id="13" name="Shape 11"/>
          <p:cNvSpPr/>
          <p:nvPr/>
        </p:nvSpPr>
        <p:spPr>
          <a:xfrm>
            <a:off x="731520" y="3712464"/>
            <a:ext cx="5669280" cy="777240"/>
          </a:xfrm>
          <a:prstGeom prst="roundRect">
            <a:avLst>
              <a:gd name="adj" fmla="val 9412"/>
            </a:avLst>
          </a:prstGeom>
          <a:solidFill>
            <a:srgbClr val="FFFFFF"/>
          </a:solidFill>
          <a:ln w="12700">
            <a:solidFill>
              <a:srgbClr val="E2E8F0"/>
            </a:solidFill>
            <a:prstDash val="solid"/>
          </a:ln>
        </p:spPr>
      </p:sp>
      <p:sp>
        <p:nvSpPr>
          <p:cNvPr id="14" name="Shape 12"/>
          <p:cNvSpPr/>
          <p:nvPr/>
        </p:nvSpPr>
        <p:spPr>
          <a:xfrm>
            <a:off x="914400" y="4005072"/>
            <a:ext cx="137160" cy="137160"/>
          </a:xfrm>
          <a:prstGeom prst="ellipse">
            <a:avLst/>
          </a:prstGeom>
          <a:solidFill>
            <a:srgbClr val="2563EB"/>
          </a:solidFill>
          <a:ln/>
        </p:spPr>
      </p:sp>
      <p:sp>
        <p:nvSpPr>
          <p:cNvPr id="15" name="Text 13"/>
          <p:cNvSpPr/>
          <p:nvPr/>
        </p:nvSpPr>
        <p:spPr>
          <a:xfrm>
            <a:off x="1143000" y="3785616"/>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Duplicate Acceptance Guard: Second acceptance attempt on already-accepted request returned HTTP 409 Conflict (PASSED).</a:t>
            </a:r>
            <a:endParaRPr lang="en-US" sz="1100" dirty="0"/>
          </a:p>
        </p:txBody>
      </p:sp>
      <p:sp>
        <p:nvSpPr>
          <p:cNvPr id="16" name="Shape 14"/>
          <p:cNvSpPr/>
          <p:nvPr/>
        </p:nvSpPr>
        <p:spPr>
          <a:xfrm>
            <a:off x="731520" y="4608576"/>
            <a:ext cx="5669280" cy="777240"/>
          </a:xfrm>
          <a:prstGeom prst="roundRect">
            <a:avLst>
              <a:gd name="adj" fmla="val 9412"/>
            </a:avLst>
          </a:prstGeom>
          <a:solidFill>
            <a:srgbClr val="FFFFFF"/>
          </a:solidFill>
          <a:ln w="12700">
            <a:solidFill>
              <a:srgbClr val="E2E8F0"/>
            </a:solidFill>
            <a:prstDash val="solid"/>
          </a:ln>
        </p:spPr>
      </p:sp>
      <p:sp>
        <p:nvSpPr>
          <p:cNvPr id="17" name="Shape 15"/>
          <p:cNvSpPr/>
          <p:nvPr/>
        </p:nvSpPr>
        <p:spPr>
          <a:xfrm>
            <a:off x="914400" y="4901184"/>
            <a:ext cx="137160" cy="137160"/>
          </a:xfrm>
          <a:prstGeom prst="ellipse">
            <a:avLst/>
          </a:prstGeom>
          <a:solidFill>
            <a:srgbClr val="2563EB"/>
          </a:solidFill>
          <a:ln/>
        </p:spPr>
      </p:sp>
      <p:sp>
        <p:nvSpPr>
          <p:cNvPr id="18" name="Text 16"/>
          <p:cNvSpPr/>
          <p:nvPr/>
        </p:nvSpPr>
        <p:spPr>
          <a:xfrm>
            <a:off x="1143000" y="4681728"/>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RBAC Boundary Test: Unauthorized user attempt to alter booking status blocked with HTTP 403 Forbidden (PASSED).</a:t>
            </a:r>
            <a:endParaRPr lang="en-US" sz="1100" dirty="0"/>
          </a:p>
        </p:txBody>
      </p:sp>
      <p:sp>
        <p:nvSpPr>
          <p:cNvPr id="19" name="Shape 17"/>
          <p:cNvSpPr/>
          <p:nvPr/>
        </p:nvSpPr>
        <p:spPr>
          <a:xfrm>
            <a:off x="6675120" y="1920240"/>
            <a:ext cx="4754880" cy="1097280"/>
          </a:xfrm>
          <a:prstGeom prst="roundRect">
            <a:avLst>
              <a:gd name="adj" fmla="val 6667"/>
            </a:avLst>
          </a:prstGeom>
          <a:solidFill>
            <a:srgbClr val="F0FDF4"/>
          </a:solidFill>
          <a:ln w="19050">
            <a:solidFill>
              <a:srgbClr val="86EFAC"/>
            </a:solidFill>
            <a:prstDash val="solid"/>
          </a:ln>
        </p:spPr>
      </p:sp>
      <p:sp>
        <p:nvSpPr>
          <p:cNvPr id="20" name="Text 18"/>
          <p:cNvSpPr/>
          <p:nvPr/>
        </p:nvSpPr>
        <p:spPr>
          <a:xfrm>
            <a:off x="6858000" y="2011680"/>
            <a:ext cx="4389120" cy="320040"/>
          </a:xfrm>
          <a:prstGeom prst="rect">
            <a:avLst/>
          </a:prstGeom>
          <a:noFill/>
          <a:ln/>
        </p:spPr>
        <p:txBody>
          <a:bodyPr wrap="square" rtlCol="0" anchor="ctr"/>
          <a:lstStyle/>
          <a:p>
            <a:pPr indent="0" marL="0">
              <a:buNone/>
            </a:pPr>
            <a:r>
              <a:rPr lang="en-US" sz="1100" b="1" dirty="0">
                <a:solidFill>
                  <a:srgbClr val="16A34A"/>
                </a:solidFill>
                <a:latin typeface="Arial" pitchFamily="34" charset="0"/>
                <a:ea typeface="Arial" pitchFamily="34" charset="-122"/>
                <a:cs typeface="Arial" pitchFamily="34" charset="-120"/>
              </a:rPr>
              <a:t>Emergency Guidance</a:t>
            </a:r>
            <a:endParaRPr lang="en-US" sz="1100" dirty="0"/>
          </a:p>
        </p:txBody>
      </p:sp>
      <p:sp>
        <p:nvSpPr>
          <p:cNvPr id="21" name="Text 19"/>
          <p:cNvSpPr/>
          <p:nvPr/>
        </p:nvSpPr>
        <p:spPr>
          <a:xfrm>
            <a:off x="6858000" y="233172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Immediate rendering, offline safety cache, direct dial for 1906 &amp; 112.</a:t>
            </a:r>
            <a:endParaRPr lang="en-US" sz="1000" dirty="0"/>
          </a:p>
        </p:txBody>
      </p:sp>
      <p:sp>
        <p:nvSpPr>
          <p:cNvPr id="22" name="Shape 20"/>
          <p:cNvSpPr/>
          <p:nvPr/>
        </p:nvSpPr>
        <p:spPr>
          <a:xfrm>
            <a:off x="6675120" y="3246120"/>
            <a:ext cx="4754880" cy="1097280"/>
          </a:xfrm>
          <a:prstGeom prst="roundRect">
            <a:avLst>
              <a:gd name="adj" fmla="val 6667"/>
            </a:avLst>
          </a:prstGeom>
          <a:solidFill>
            <a:srgbClr val="F0FDF4"/>
          </a:solidFill>
          <a:ln w="19050">
            <a:solidFill>
              <a:srgbClr val="86EFAC"/>
            </a:solidFill>
            <a:prstDash val="solid"/>
          </a:ln>
        </p:spPr>
      </p:sp>
      <p:sp>
        <p:nvSpPr>
          <p:cNvPr id="23" name="Text 21"/>
          <p:cNvSpPr/>
          <p:nvPr/>
        </p:nvSpPr>
        <p:spPr>
          <a:xfrm>
            <a:off x="6858000" y="3337560"/>
            <a:ext cx="4389120" cy="320040"/>
          </a:xfrm>
          <a:prstGeom prst="rect">
            <a:avLst/>
          </a:prstGeom>
          <a:noFill/>
          <a:ln/>
        </p:spPr>
        <p:txBody>
          <a:bodyPr wrap="square" rtlCol="0" anchor="ctr"/>
          <a:lstStyle/>
          <a:p>
            <a:pPr indent="0" marL="0">
              <a:buNone/>
            </a:pPr>
            <a:r>
              <a:rPr lang="en-US" sz="1100" b="1" dirty="0">
                <a:solidFill>
                  <a:srgbClr val="16A34A"/>
                </a:solidFill>
                <a:latin typeface="Arial" pitchFamily="34" charset="0"/>
                <a:ea typeface="Arial" pitchFamily="34" charset="-122"/>
                <a:cs typeface="Arial" pitchFamily="34" charset="-120"/>
              </a:rPr>
              <a:t>Booking Sync</a:t>
            </a:r>
            <a:endParaRPr lang="en-US" sz="1100" dirty="0"/>
          </a:p>
        </p:txBody>
      </p:sp>
      <p:sp>
        <p:nvSpPr>
          <p:cNvPr id="24" name="Text 22"/>
          <p:cNvSpPr/>
          <p:nvPr/>
        </p:nvSpPr>
        <p:spPr>
          <a:xfrm>
            <a:off x="6858000" y="365760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Zero page reloads required across customer and provider dashboards.</a:t>
            </a:r>
            <a:endParaRPr lang="en-US" sz="1000" dirty="0"/>
          </a:p>
        </p:txBody>
      </p:sp>
      <p:sp>
        <p:nvSpPr>
          <p:cNvPr id="25" name="Shape 23"/>
          <p:cNvSpPr/>
          <p:nvPr/>
        </p:nvSpPr>
        <p:spPr>
          <a:xfrm>
            <a:off x="6675120" y="4572000"/>
            <a:ext cx="4754880" cy="1097280"/>
          </a:xfrm>
          <a:prstGeom prst="roundRect">
            <a:avLst>
              <a:gd name="adj" fmla="val 6667"/>
            </a:avLst>
          </a:prstGeom>
          <a:solidFill>
            <a:srgbClr val="F0FDF4"/>
          </a:solidFill>
          <a:ln w="19050">
            <a:solidFill>
              <a:srgbClr val="86EFAC"/>
            </a:solidFill>
            <a:prstDash val="solid"/>
          </a:ln>
        </p:spPr>
      </p:sp>
      <p:sp>
        <p:nvSpPr>
          <p:cNvPr id="26" name="Text 24"/>
          <p:cNvSpPr/>
          <p:nvPr/>
        </p:nvSpPr>
        <p:spPr>
          <a:xfrm>
            <a:off x="6858000" y="4663440"/>
            <a:ext cx="4389120" cy="320040"/>
          </a:xfrm>
          <a:prstGeom prst="rect">
            <a:avLst/>
          </a:prstGeom>
          <a:noFill/>
          <a:ln/>
        </p:spPr>
        <p:txBody>
          <a:bodyPr wrap="square" rtlCol="0" anchor="ctr"/>
          <a:lstStyle/>
          <a:p>
            <a:pPr indent="0" marL="0">
              <a:buNone/>
            </a:pPr>
            <a:r>
              <a:rPr lang="en-US" sz="1100" b="1" dirty="0">
                <a:solidFill>
                  <a:srgbClr val="16A34A"/>
                </a:solidFill>
                <a:latin typeface="Arial" pitchFamily="34" charset="0"/>
                <a:ea typeface="Arial" pitchFamily="34" charset="-122"/>
                <a:cs typeface="Arial" pitchFamily="34" charset="-120"/>
              </a:rPr>
              <a:t>RBAC Enforcement</a:t>
            </a:r>
            <a:endParaRPr lang="en-US" sz="1100" dirty="0"/>
          </a:p>
        </p:txBody>
      </p:sp>
      <p:sp>
        <p:nvSpPr>
          <p:cNvPr id="27" name="Text 25"/>
          <p:cNvSpPr/>
          <p:nvPr/>
        </p:nvSpPr>
        <p:spPr>
          <a:xfrm>
            <a:off x="6858000" y="498348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Full authorization guards on all /api/bookings and /api/emergency endpoints.</a:t>
            </a:r>
            <a:endParaRPr lang="en-US" sz="1000" dirty="0"/>
          </a:p>
        </p:txBody>
      </p:sp>
      <p:sp>
        <p:nvSpPr>
          <p:cNvPr id="28" name="Text 26"/>
          <p:cNvSpPr/>
          <p:nvPr/>
        </p:nvSpPr>
        <p:spPr>
          <a:xfrm>
            <a:off x="731520" y="640080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ServiceHub India · Capstone Project · Slide 9 of 12</a:t>
            </a:r>
            <a:endParaRPr lang="en-US" sz="900" dirty="0"/>
          </a:p>
        </p:txBody>
      </p:sp>
      <p:sp>
        <p:nvSpPr>
          <p:cNvPr id="29" name="Text 27"/>
          <p:cNvSpPr/>
          <p:nvPr/>
        </p:nvSpPr>
        <p:spPr>
          <a:xfrm>
            <a:off x="8046720" y="6400800"/>
            <a:ext cx="33832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Academic Evaluation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DEMO PERSONAS</a:t>
            </a:r>
            <a:endParaRPr lang="en-US" sz="1000" dirty="0"/>
          </a:p>
        </p:txBody>
      </p:sp>
      <p:sp>
        <p:nvSpPr>
          <p:cNvPr id="4" name="Text 2"/>
          <p:cNvSpPr/>
          <p:nvPr/>
        </p:nvSpPr>
        <p:spPr>
          <a:xfrm>
            <a:off x="731520" y="640080"/>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Seeded Demo Personas &amp; Live Walkthrough</a:t>
            </a:r>
            <a:endParaRPr lang="en-US" sz="2200" dirty="0"/>
          </a:p>
        </p:txBody>
      </p:sp>
      <p:sp>
        <p:nvSpPr>
          <p:cNvPr id="5" name="Text 3"/>
          <p:cNvSpPr/>
          <p:nvPr/>
        </p:nvSpPr>
        <p:spPr>
          <a:xfrm>
            <a:off x="731520" y="1188720"/>
            <a:ext cx="1051560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Pre-Configured Accounts for Seamless Evaluation &amp; Defense Demonstration</a:t>
            </a:r>
            <a:endParaRPr lang="en-US" sz="1200" dirty="0"/>
          </a:p>
        </p:txBody>
      </p:sp>
      <p:sp>
        <p:nvSpPr>
          <p:cNvPr id="6" name="Shape 4"/>
          <p:cNvSpPr/>
          <p:nvPr/>
        </p:nvSpPr>
        <p:spPr>
          <a:xfrm>
            <a:off x="731520" y="1645920"/>
            <a:ext cx="10698480" cy="0"/>
          </a:xfrm>
          <a:prstGeom prst="line">
            <a:avLst/>
          </a:prstGeom>
          <a:noFill/>
          <a:ln w="19050">
            <a:solidFill>
              <a:srgbClr val="E2E8F0"/>
            </a:solidFill>
            <a:prstDash val="solid"/>
          </a:ln>
        </p:spPr>
      </p:sp>
      <p:sp>
        <p:nvSpPr>
          <p:cNvPr id="7" name="Shape 5"/>
          <p:cNvSpPr/>
          <p:nvPr/>
        </p:nvSpPr>
        <p:spPr>
          <a:xfrm>
            <a:off x="731520" y="1920240"/>
            <a:ext cx="5669280" cy="777240"/>
          </a:xfrm>
          <a:prstGeom prst="roundRect">
            <a:avLst>
              <a:gd name="adj" fmla="val 9412"/>
            </a:avLst>
          </a:prstGeom>
          <a:solidFill>
            <a:srgbClr val="FFFFFF"/>
          </a:solidFill>
          <a:ln w="12700">
            <a:solidFill>
              <a:srgbClr val="E2E8F0"/>
            </a:solidFill>
            <a:prstDash val="solid"/>
          </a:ln>
        </p:spPr>
      </p:sp>
      <p:sp>
        <p:nvSpPr>
          <p:cNvPr id="8" name="Shape 6"/>
          <p:cNvSpPr/>
          <p:nvPr/>
        </p:nvSpPr>
        <p:spPr>
          <a:xfrm>
            <a:off x="914400" y="2212848"/>
            <a:ext cx="137160" cy="137160"/>
          </a:xfrm>
          <a:prstGeom prst="ellipse">
            <a:avLst/>
          </a:prstGeom>
          <a:solidFill>
            <a:srgbClr val="2563EB"/>
          </a:solidFill>
          <a:ln/>
        </p:spPr>
      </p:sp>
      <p:sp>
        <p:nvSpPr>
          <p:cNvPr id="9" name="Text 7"/>
          <p:cNvSpPr/>
          <p:nvPr/>
        </p:nvSpPr>
        <p:spPr>
          <a:xfrm>
            <a:off x="1143000" y="1993392"/>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Customer Persona (Pooja Sharma): Urban homeowner in Pune seeking urgent RO repair and home deep cleaning.</a:t>
            </a:r>
            <a:endParaRPr lang="en-US" sz="1100" dirty="0"/>
          </a:p>
        </p:txBody>
      </p:sp>
      <p:sp>
        <p:nvSpPr>
          <p:cNvPr id="10" name="Shape 8"/>
          <p:cNvSpPr/>
          <p:nvPr/>
        </p:nvSpPr>
        <p:spPr>
          <a:xfrm>
            <a:off x="731520" y="2816352"/>
            <a:ext cx="5669280" cy="777240"/>
          </a:xfrm>
          <a:prstGeom prst="roundRect">
            <a:avLst>
              <a:gd name="adj" fmla="val 9412"/>
            </a:avLst>
          </a:prstGeom>
          <a:solidFill>
            <a:srgbClr val="FFFFFF"/>
          </a:solidFill>
          <a:ln w="12700">
            <a:solidFill>
              <a:srgbClr val="E2E8F0"/>
            </a:solidFill>
            <a:prstDash val="solid"/>
          </a:ln>
        </p:spPr>
      </p:sp>
      <p:sp>
        <p:nvSpPr>
          <p:cNvPr id="11" name="Shape 9"/>
          <p:cNvSpPr/>
          <p:nvPr/>
        </p:nvSpPr>
        <p:spPr>
          <a:xfrm>
            <a:off x="914400" y="3108960"/>
            <a:ext cx="137160" cy="137160"/>
          </a:xfrm>
          <a:prstGeom prst="ellipse">
            <a:avLst/>
          </a:prstGeom>
          <a:solidFill>
            <a:srgbClr val="2563EB"/>
          </a:solidFill>
          <a:ln/>
        </p:spPr>
      </p:sp>
      <p:sp>
        <p:nvSpPr>
          <p:cNvPr id="12" name="Text 10"/>
          <p:cNvSpPr/>
          <p:nvPr/>
        </p:nvSpPr>
        <p:spPr>
          <a:xfrm>
            <a:off x="1143000" y="2889504"/>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Rural Provider Persona (Rameshwar Patil): Kisan Mitra Agro &amp; Solar Services in Baramati, verified solar pump specialist.</a:t>
            </a:r>
            <a:endParaRPr lang="en-US" sz="1100" dirty="0"/>
          </a:p>
        </p:txBody>
      </p:sp>
      <p:sp>
        <p:nvSpPr>
          <p:cNvPr id="13" name="Shape 11"/>
          <p:cNvSpPr/>
          <p:nvPr/>
        </p:nvSpPr>
        <p:spPr>
          <a:xfrm>
            <a:off x="731520" y="3712464"/>
            <a:ext cx="5669280" cy="777240"/>
          </a:xfrm>
          <a:prstGeom prst="roundRect">
            <a:avLst>
              <a:gd name="adj" fmla="val 9412"/>
            </a:avLst>
          </a:prstGeom>
          <a:solidFill>
            <a:srgbClr val="FFFFFF"/>
          </a:solidFill>
          <a:ln w="12700">
            <a:solidFill>
              <a:srgbClr val="E2E8F0"/>
            </a:solidFill>
            <a:prstDash val="solid"/>
          </a:ln>
        </p:spPr>
      </p:sp>
      <p:sp>
        <p:nvSpPr>
          <p:cNvPr id="14" name="Shape 12"/>
          <p:cNvSpPr/>
          <p:nvPr/>
        </p:nvSpPr>
        <p:spPr>
          <a:xfrm>
            <a:off x="914400" y="4005072"/>
            <a:ext cx="137160" cy="137160"/>
          </a:xfrm>
          <a:prstGeom prst="ellipse">
            <a:avLst/>
          </a:prstGeom>
          <a:solidFill>
            <a:srgbClr val="2563EB"/>
          </a:solidFill>
          <a:ln/>
        </p:spPr>
      </p:sp>
      <p:sp>
        <p:nvSpPr>
          <p:cNvPr id="15" name="Text 13"/>
          <p:cNvSpPr/>
          <p:nvPr/>
        </p:nvSpPr>
        <p:spPr>
          <a:xfrm>
            <a:off x="1143000" y="3785616"/>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Urban Electrical Pro (Amit Kumar): Certified electrician with A-Grade trade license and EV charger expertise.</a:t>
            </a:r>
            <a:endParaRPr lang="en-US" sz="1100" dirty="0"/>
          </a:p>
        </p:txBody>
      </p:sp>
      <p:sp>
        <p:nvSpPr>
          <p:cNvPr id="16" name="Shape 14"/>
          <p:cNvSpPr/>
          <p:nvPr/>
        </p:nvSpPr>
        <p:spPr>
          <a:xfrm>
            <a:off x="731520" y="4608576"/>
            <a:ext cx="5669280" cy="777240"/>
          </a:xfrm>
          <a:prstGeom prst="roundRect">
            <a:avLst>
              <a:gd name="adj" fmla="val 9412"/>
            </a:avLst>
          </a:prstGeom>
          <a:solidFill>
            <a:srgbClr val="FFFFFF"/>
          </a:solidFill>
          <a:ln w="12700">
            <a:solidFill>
              <a:srgbClr val="E2E8F0"/>
            </a:solidFill>
            <a:prstDash val="solid"/>
          </a:ln>
        </p:spPr>
      </p:sp>
      <p:sp>
        <p:nvSpPr>
          <p:cNvPr id="17" name="Shape 15"/>
          <p:cNvSpPr/>
          <p:nvPr/>
        </p:nvSpPr>
        <p:spPr>
          <a:xfrm>
            <a:off x="914400" y="4901184"/>
            <a:ext cx="137160" cy="137160"/>
          </a:xfrm>
          <a:prstGeom prst="ellipse">
            <a:avLst/>
          </a:prstGeom>
          <a:solidFill>
            <a:srgbClr val="2563EB"/>
          </a:solidFill>
          <a:ln/>
        </p:spPr>
      </p:sp>
      <p:sp>
        <p:nvSpPr>
          <p:cNvPr id="18" name="Text 16"/>
          <p:cNvSpPr/>
          <p:nvPr/>
        </p:nvSpPr>
        <p:spPr>
          <a:xfrm>
            <a:off x="1143000" y="4681728"/>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Administrator (System Admin): Compliance officer monitoring KYC approvals, bookings, and emergency triage.</a:t>
            </a:r>
            <a:endParaRPr lang="en-US" sz="1100" dirty="0"/>
          </a:p>
        </p:txBody>
      </p:sp>
      <p:sp>
        <p:nvSpPr>
          <p:cNvPr id="19" name="Shape 17"/>
          <p:cNvSpPr/>
          <p:nvPr/>
        </p:nvSpPr>
        <p:spPr>
          <a:xfrm>
            <a:off x="6675120" y="1920240"/>
            <a:ext cx="4754880" cy="1097280"/>
          </a:xfrm>
          <a:prstGeom prst="roundRect">
            <a:avLst>
              <a:gd name="adj" fmla="val 6667"/>
            </a:avLst>
          </a:prstGeom>
          <a:solidFill>
            <a:srgbClr val="FFFFFF"/>
          </a:solidFill>
          <a:ln w="19050">
            <a:solidFill>
              <a:srgbClr val="CBD5E1"/>
            </a:solidFill>
            <a:prstDash val="solid"/>
          </a:ln>
        </p:spPr>
      </p:sp>
      <p:sp>
        <p:nvSpPr>
          <p:cNvPr id="20" name="Text 18"/>
          <p:cNvSpPr/>
          <p:nvPr/>
        </p:nvSpPr>
        <p:spPr>
          <a:xfrm>
            <a:off x="6858000" y="2011680"/>
            <a:ext cx="4389120" cy="32004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Customer: Pooja</a:t>
            </a:r>
            <a:endParaRPr lang="en-US" sz="1100" dirty="0"/>
          </a:p>
        </p:txBody>
      </p:sp>
      <p:sp>
        <p:nvSpPr>
          <p:cNvPr id="21" name="Text 19"/>
          <p:cNvSpPr/>
          <p:nvPr/>
        </p:nvSpPr>
        <p:spPr>
          <a:xfrm>
            <a:off x="6858000" y="233172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customer@servicehub.in (Pass: customer123). Submits bookings, tracks status, initiates emergency help.</a:t>
            </a:r>
            <a:endParaRPr lang="en-US" sz="1000" dirty="0"/>
          </a:p>
        </p:txBody>
      </p:sp>
      <p:sp>
        <p:nvSpPr>
          <p:cNvPr id="22" name="Shape 20"/>
          <p:cNvSpPr/>
          <p:nvPr/>
        </p:nvSpPr>
        <p:spPr>
          <a:xfrm>
            <a:off x="6675120" y="3246120"/>
            <a:ext cx="4754880" cy="1097280"/>
          </a:xfrm>
          <a:prstGeom prst="roundRect">
            <a:avLst>
              <a:gd name="adj" fmla="val 6667"/>
            </a:avLst>
          </a:prstGeom>
          <a:solidFill>
            <a:srgbClr val="F0FDF4"/>
          </a:solidFill>
          <a:ln w="19050">
            <a:solidFill>
              <a:srgbClr val="86EFAC"/>
            </a:solidFill>
            <a:prstDash val="solid"/>
          </a:ln>
        </p:spPr>
      </p:sp>
      <p:sp>
        <p:nvSpPr>
          <p:cNvPr id="23" name="Text 21"/>
          <p:cNvSpPr/>
          <p:nvPr/>
        </p:nvSpPr>
        <p:spPr>
          <a:xfrm>
            <a:off x="6858000" y="3337560"/>
            <a:ext cx="4389120" cy="320040"/>
          </a:xfrm>
          <a:prstGeom prst="rect">
            <a:avLst/>
          </a:prstGeom>
          <a:noFill/>
          <a:ln/>
        </p:spPr>
        <p:txBody>
          <a:bodyPr wrap="square" rtlCol="0" anchor="ctr"/>
          <a:lstStyle/>
          <a:p>
            <a:pPr indent="0" marL="0">
              <a:buNone/>
            </a:pPr>
            <a:r>
              <a:rPr lang="en-US" sz="1100" b="1" dirty="0">
                <a:solidFill>
                  <a:srgbClr val="16A34A"/>
                </a:solidFill>
                <a:latin typeface="Arial" pitchFamily="34" charset="0"/>
                <a:ea typeface="Arial" pitchFamily="34" charset="-122"/>
                <a:cs typeface="Arial" pitchFamily="34" charset="-120"/>
              </a:rPr>
              <a:t>Pro: Rameshwar</a:t>
            </a:r>
            <a:endParaRPr lang="en-US" sz="1100" dirty="0"/>
          </a:p>
        </p:txBody>
      </p:sp>
      <p:sp>
        <p:nvSpPr>
          <p:cNvPr id="24" name="Text 22"/>
          <p:cNvSpPr/>
          <p:nvPr/>
        </p:nvSpPr>
        <p:spPr>
          <a:xfrm>
            <a:off x="6858000" y="365760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rameshwar@kisanmitra.in (Pass: provider123). Solar pump repair, tractor diagnostics, live acceptance.</a:t>
            </a:r>
            <a:endParaRPr lang="en-US" sz="1000" dirty="0"/>
          </a:p>
        </p:txBody>
      </p:sp>
      <p:sp>
        <p:nvSpPr>
          <p:cNvPr id="25" name="Shape 23"/>
          <p:cNvSpPr/>
          <p:nvPr/>
        </p:nvSpPr>
        <p:spPr>
          <a:xfrm>
            <a:off x="6675120" y="4572000"/>
            <a:ext cx="4754880" cy="1097280"/>
          </a:xfrm>
          <a:prstGeom prst="roundRect">
            <a:avLst>
              <a:gd name="adj" fmla="val 6667"/>
            </a:avLst>
          </a:prstGeom>
          <a:solidFill>
            <a:srgbClr val="FFFBEB"/>
          </a:solidFill>
          <a:ln w="19050">
            <a:solidFill>
              <a:srgbClr val="FDE68A"/>
            </a:solidFill>
            <a:prstDash val="solid"/>
          </a:ln>
        </p:spPr>
      </p:sp>
      <p:sp>
        <p:nvSpPr>
          <p:cNvPr id="26" name="Text 24"/>
          <p:cNvSpPr/>
          <p:nvPr/>
        </p:nvSpPr>
        <p:spPr>
          <a:xfrm>
            <a:off x="6858000" y="4663440"/>
            <a:ext cx="438912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Admin: Operations</a:t>
            </a:r>
            <a:endParaRPr lang="en-US" sz="1100" dirty="0"/>
          </a:p>
        </p:txBody>
      </p:sp>
      <p:sp>
        <p:nvSpPr>
          <p:cNvPr id="27" name="Text 25"/>
          <p:cNvSpPr/>
          <p:nvPr/>
        </p:nvSpPr>
        <p:spPr>
          <a:xfrm>
            <a:off x="6858000" y="498348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admin@servicehub.in (Pass: admin123). Verifies KYC credentials, audits marketplace health.</a:t>
            </a:r>
            <a:endParaRPr lang="en-US" sz="1000" dirty="0"/>
          </a:p>
        </p:txBody>
      </p:sp>
      <p:sp>
        <p:nvSpPr>
          <p:cNvPr id="28" name="Text 26"/>
          <p:cNvSpPr/>
          <p:nvPr/>
        </p:nvSpPr>
        <p:spPr>
          <a:xfrm>
            <a:off x="731520" y="640080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ServiceHub India · Capstone Project · Slide 10 of 12</a:t>
            </a:r>
            <a:endParaRPr lang="en-US" sz="900" dirty="0"/>
          </a:p>
        </p:txBody>
      </p:sp>
      <p:sp>
        <p:nvSpPr>
          <p:cNvPr id="29" name="Text 27"/>
          <p:cNvSpPr/>
          <p:nvPr/>
        </p:nvSpPr>
        <p:spPr>
          <a:xfrm>
            <a:off x="8046720" y="6400800"/>
            <a:ext cx="33832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Academic Evaluation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FUTURE ROADMAP</a:t>
            </a:r>
            <a:endParaRPr lang="en-US" sz="1000" dirty="0"/>
          </a:p>
        </p:txBody>
      </p:sp>
      <p:sp>
        <p:nvSpPr>
          <p:cNvPr id="4" name="Text 2"/>
          <p:cNvSpPr/>
          <p:nvPr/>
        </p:nvSpPr>
        <p:spPr>
          <a:xfrm>
            <a:off x="731520" y="640080"/>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Future Innovations &amp; Scalability Roadmap</a:t>
            </a:r>
            <a:endParaRPr lang="en-US" sz="2200" dirty="0"/>
          </a:p>
        </p:txBody>
      </p:sp>
      <p:sp>
        <p:nvSpPr>
          <p:cNvPr id="5" name="Text 3"/>
          <p:cNvSpPr/>
          <p:nvPr/>
        </p:nvSpPr>
        <p:spPr>
          <a:xfrm>
            <a:off x="731520" y="1188720"/>
            <a:ext cx="1051560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Strategic Roadmap for Pan-India Deployment and Rural Empowerment</a:t>
            </a:r>
            <a:endParaRPr lang="en-US" sz="1200" dirty="0"/>
          </a:p>
        </p:txBody>
      </p:sp>
      <p:sp>
        <p:nvSpPr>
          <p:cNvPr id="6" name="Shape 4"/>
          <p:cNvSpPr/>
          <p:nvPr/>
        </p:nvSpPr>
        <p:spPr>
          <a:xfrm>
            <a:off x="731520" y="1645920"/>
            <a:ext cx="10698480" cy="0"/>
          </a:xfrm>
          <a:prstGeom prst="line">
            <a:avLst/>
          </a:prstGeom>
          <a:noFill/>
          <a:ln w="19050">
            <a:solidFill>
              <a:srgbClr val="E2E8F0"/>
            </a:solidFill>
            <a:prstDash val="solid"/>
          </a:ln>
        </p:spPr>
      </p:sp>
      <p:sp>
        <p:nvSpPr>
          <p:cNvPr id="7" name="Shape 5"/>
          <p:cNvSpPr/>
          <p:nvPr/>
        </p:nvSpPr>
        <p:spPr>
          <a:xfrm>
            <a:off x="731520" y="1920240"/>
            <a:ext cx="5669280" cy="777240"/>
          </a:xfrm>
          <a:prstGeom prst="roundRect">
            <a:avLst>
              <a:gd name="adj" fmla="val 9412"/>
            </a:avLst>
          </a:prstGeom>
          <a:solidFill>
            <a:srgbClr val="FFFFFF"/>
          </a:solidFill>
          <a:ln w="12700">
            <a:solidFill>
              <a:srgbClr val="E2E8F0"/>
            </a:solidFill>
            <a:prstDash val="solid"/>
          </a:ln>
        </p:spPr>
      </p:sp>
      <p:sp>
        <p:nvSpPr>
          <p:cNvPr id="8" name="Shape 6"/>
          <p:cNvSpPr/>
          <p:nvPr/>
        </p:nvSpPr>
        <p:spPr>
          <a:xfrm>
            <a:off x="914400" y="2212848"/>
            <a:ext cx="137160" cy="137160"/>
          </a:xfrm>
          <a:prstGeom prst="ellipse">
            <a:avLst/>
          </a:prstGeom>
          <a:solidFill>
            <a:srgbClr val="2563EB"/>
          </a:solidFill>
          <a:ln/>
        </p:spPr>
      </p:sp>
      <p:sp>
        <p:nvSpPr>
          <p:cNvPr id="9" name="Text 7"/>
          <p:cNvSpPr/>
          <p:nvPr/>
        </p:nvSpPr>
        <p:spPr>
          <a:xfrm>
            <a:off x="1143000" y="1993392"/>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UPI AutoPay &amp; Split Escrow: Automatic milestone-based payouts directly into provider bank accounts via NPCI UPI.</a:t>
            </a:r>
            <a:endParaRPr lang="en-US" sz="1100" dirty="0"/>
          </a:p>
        </p:txBody>
      </p:sp>
      <p:sp>
        <p:nvSpPr>
          <p:cNvPr id="10" name="Shape 8"/>
          <p:cNvSpPr/>
          <p:nvPr/>
        </p:nvSpPr>
        <p:spPr>
          <a:xfrm>
            <a:off x="731520" y="2816352"/>
            <a:ext cx="5669280" cy="777240"/>
          </a:xfrm>
          <a:prstGeom prst="roundRect">
            <a:avLst>
              <a:gd name="adj" fmla="val 9412"/>
            </a:avLst>
          </a:prstGeom>
          <a:solidFill>
            <a:srgbClr val="FFFFFF"/>
          </a:solidFill>
          <a:ln w="12700">
            <a:solidFill>
              <a:srgbClr val="E2E8F0"/>
            </a:solidFill>
            <a:prstDash val="solid"/>
          </a:ln>
        </p:spPr>
      </p:sp>
      <p:sp>
        <p:nvSpPr>
          <p:cNvPr id="11" name="Shape 9"/>
          <p:cNvSpPr/>
          <p:nvPr/>
        </p:nvSpPr>
        <p:spPr>
          <a:xfrm>
            <a:off x="914400" y="3108960"/>
            <a:ext cx="137160" cy="137160"/>
          </a:xfrm>
          <a:prstGeom prst="ellipse">
            <a:avLst/>
          </a:prstGeom>
          <a:solidFill>
            <a:srgbClr val="2563EB"/>
          </a:solidFill>
          <a:ln/>
        </p:spPr>
      </p:sp>
      <p:sp>
        <p:nvSpPr>
          <p:cNvPr id="12" name="Text 10"/>
          <p:cNvSpPr/>
          <p:nvPr/>
        </p:nvSpPr>
        <p:spPr>
          <a:xfrm>
            <a:off x="1143000" y="2889504"/>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Bhashini AI Multilingual Voice Search: Voice-guided booking in Hindi, Marathi, Telugu, Tamil, and Kannada for rural mechanics.</a:t>
            </a:r>
            <a:endParaRPr lang="en-US" sz="1100" dirty="0"/>
          </a:p>
        </p:txBody>
      </p:sp>
      <p:sp>
        <p:nvSpPr>
          <p:cNvPr id="13" name="Shape 11"/>
          <p:cNvSpPr/>
          <p:nvPr/>
        </p:nvSpPr>
        <p:spPr>
          <a:xfrm>
            <a:off x="731520" y="3712464"/>
            <a:ext cx="5669280" cy="777240"/>
          </a:xfrm>
          <a:prstGeom prst="roundRect">
            <a:avLst>
              <a:gd name="adj" fmla="val 9412"/>
            </a:avLst>
          </a:prstGeom>
          <a:solidFill>
            <a:srgbClr val="FFFFFF"/>
          </a:solidFill>
          <a:ln w="12700">
            <a:solidFill>
              <a:srgbClr val="E2E8F0"/>
            </a:solidFill>
            <a:prstDash val="solid"/>
          </a:ln>
        </p:spPr>
      </p:sp>
      <p:sp>
        <p:nvSpPr>
          <p:cNvPr id="14" name="Shape 12"/>
          <p:cNvSpPr/>
          <p:nvPr/>
        </p:nvSpPr>
        <p:spPr>
          <a:xfrm>
            <a:off x="914400" y="4005072"/>
            <a:ext cx="137160" cy="137160"/>
          </a:xfrm>
          <a:prstGeom prst="ellipse">
            <a:avLst/>
          </a:prstGeom>
          <a:solidFill>
            <a:srgbClr val="2563EB"/>
          </a:solidFill>
          <a:ln/>
        </p:spPr>
      </p:sp>
      <p:sp>
        <p:nvSpPr>
          <p:cNvPr id="15" name="Text 13"/>
          <p:cNvSpPr/>
          <p:nvPr/>
        </p:nvSpPr>
        <p:spPr>
          <a:xfrm>
            <a:off x="1143000" y="3785616"/>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Offline IVR &amp; SMS Fallback: SMS and automated voice dispatch for remote villages with low smartphone penetration.</a:t>
            </a:r>
            <a:endParaRPr lang="en-US" sz="1100" dirty="0"/>
          </a:p>
        </p:txBody>
      </p:sp>
      <p:sp>
        <p:nvSpPr>
          <p:cNvPr id="16" name="Shape 14"/>
          <p:cNvSpPr/>
          <p:nvPr/>
        </p:nvSpPr>
        <p:spPr>
          <a:xfrm>
            <a:off x="731520" y="4608576"/>
            <a:ext cx="5669280" cy="777240"/>
          </a:xfrm>
          <a:prstGeom prst="roundRect">
            <a:avLst>
              <a:gd name="adj" fmla="val 9412"/>
            </a:avLst>
          </a:prstGeom>
          <a:solidFill>
            <a:srgbClr val="FFFFFF"/>
          </a:solidFill>
          <a:ln w="12700">
            <a:solidFill>
              <a:srgbClr val="E2E8F0"/>
            </a:solidFill>
            <a:prstDash val="solid"/>
          </a:ln>
        </p:spPr>
      </p:sp>
      <p:sp>
        <p:nvSpPr>
          <p:cNvPr id="17" name="Shape 15"/>
          <p:cNvSpPr/>
          <p:nvPr/>
        </p:nvSpPr>
        <p:spPr>
          <a:xfrm>
            <a:off x="914400" y="4901184"/>
            <a:ext cx="137160" cy="137160"/>
          </a:xfrm>
          <a:prstGeom prst="ellipse">
            <a:avLst/>
          </a:prstGeom>
          <a:solidFill>
            <a:srgbClr val="2563EB"/>
          </a:solidFill>
          <a:ln/>
        </p:spPr>
      </p:sp>
      <p:sp>
        <p:nvSpPr>
          <p:cNvPr id="18" name="Text 16"/>
          <p:cNvSpPr/>
          <p:nvPr/>
        </p:nvSpPr>
        <p:spPr>
          <a:xfrm>
            <a:off x="1143000" y="4681728"/>
            <a:ext cx="51663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IoT Telemetry for Solar Pumps: Remote sensor diagnostics alerting technicians to motor overheating before failure.</a:t>
            </a:r>
            <a:endParaRPr lang="en-US" sz="1100" dirty="0"/>
          </a:p>
        </p:txBody>
      </p:sp>
      <p:sp>
        <p:nvSpPr>
          <p:cNvPr id="19" name="Shape 17"/>
          <p:cNvSpPr/>
          <p:nvPr/>
        </p:nvSpPr>
        <p:spPr>
          <a:xfrm>
            <a:off x="6675120" y="1920240"/>
            <a:ext cx="4754880" cy="1097280"/>
          </a:xfrm>
          <a:prstGeom prst="roundRect">
            <a:avLst>
              <a:gd name="adj" fmla="val 6667"/>
            </a:avLst>
          </a:prstGeom>
          <a:solidFill>
            <a:srgbClr val="FFFFFF"/>
          </a:solidFill>
          <a:ln w="19050">
            <a:solidFill>
              <a:srgbClr val="CBD5E1"/>
            </a:solidFill>
            <a:prstDash val="solid"/>
          </a:ln>
        </p:spPr>
      </p:sp>
      <p:sp>
        <p:nvSpPr>
          <p:cNvPr id="20" name="Text 18"/>
          <p:cNvSpPr/>
          <p:nvPr/>
        </p:nvSpPr>
        <p:spPr>
          <a:xfrm>
            <a:off x="6858000" y="2011680"/>
            <a:ext cx="4389120" cy="32004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UPI Split Escrow</a:t>
            </a:r>
            <a:endParaRPr lang="en-US" sz="1100" dirty="0"/>
          </a:p>
        </p:txBody>
      </p:sp>
      <p:sp>
        <p:nvSpPr>
          <p:cNvPr id="21" name="Text 19"/>
          <p:cNvSpPr/>
          <p:nvPr/>
        </p:nvSpPr>
        <p:spPr>
          <a:xfrm>
            <a:off x="6858000" y="233172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Zero chargeback risk, instant payouts directly to Jan Dhan bank accounts.</a:t>
            </a:r>
            <a:endParaRPr lang="en-US" sz="1000" dirty="0"/>
          </a:p>
        </p:txBody>
      </p:sp>
      <p:sp>
        <p:nvSpPr>
          <p:cNvPr id="22" name="Shape 20"/>
          <p:cNvSpPr/>
          <p:nvPr/>
        </p:nvSpPr>
        <p:spPr>
          <a:xfrm>
            <a:off x="6675120" y="3246120"/>
            <a:ext cx="4754880" cy="1097280"/>
          </a:xfrm>
          <a:prstGeom prst="roundRect">
            <a:avLst>
              <a:gd name="adj" fmla="val 6667"/>
            </a:avLst>
          </a:prstGeom>
          <a:solidFill>
            <a:srgbClr val="F0FDF4"/>
          </a:solidFill>
          <a:ln w="19050">
            <a:solidFill>
              <a:srgbClr val="86EFAC"/>
            </a:solidFill>
            <a:prstDash val="solid"/>
          </a:ln>
        </p:spPr>
      </p:sp>
      <p:sp>
        <p:nvSpPr>
          <p:cNvPr id="23" name="Text 21"/>
          <p:cNvSpPr/>
          <p:nvPr/>
        </p:nvSpPr>
        <p:spPr>
          <a:xfrm>
            <a:off x="6858000" y="3337560"/>
            <a:ext cx="4389120" cy="320040"/>
          </a:xfrm>
          <a:prstGeom prst="rect">
            <a:avLst/>
          </a:prstGeom>
          <a:noFill/>
          <a:ln/>
        </p:spPr>
        <p:txBody>
          <a:bodyPr wrap="square" rtlCol="0" anchor="ctr"/>
          <a:lstStyle/>
          <a:p>
            <a:pPr indent="0" marL="0">
              <a:buNone/>
            </a:pPr>
            <a:r>
              <a:rPr lang="en-US" sz="1100" b="1" dirty="0">
                <a:solidFill>
                  <a:srgbClr val="16A34A"/>
                </a:solidFill>
                <a:latin typeface="Arial" pitchFamily="34" charset="0"/>
                <a:ea typeface="Arial" pitchFamily="34" charset="-122"/>
                <a:cs typeface="Arial" pitchFamily="34" charset="-120"/>
              </a:rPr>
              <a:t>Vernacular Voice AI</a:t>
            </a:r>
            <a:endParaRPr lang="en-US" sz="1100" dirty="0"/>
          </a:p>
        </p:txBody>
      </p:sp>
      <p:sp>
        <p:nvSpPr>
          <p:cNvPr id="24" name="Text 22"/>
          <p:cNvSpPr/>
          <p:nvPr/>
        </p:nvSpPr>
        <p:spPr>
          <a:xfrm>
            <a:off x="6858000" y="365760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Voice-first interface for non-English literate farmers and village technicians.</a:t>
            </a:r>
            <a:endParaRPr lang="en-US" sz="1000" dirty="0"/>
          </a:p>
        </p:txBody>
      </p:sp>
      <p:sp>
        <p:nvSpPr>
          <p:cNvPr id="25" name="Shape 23"/>
          <p:cNvSpPr/>
          <p:nvPr/>
        </p:nvSpPr>
        <p:spPr>
          <a:xfrm>
            <a:off x="6675120" y="4572000"/>
            <a:ext cx="4754880" cy="1097280"/>
          </a:xfrm>
          <a:prstGeom prst="roundRect">
            <a:avLst>
              <a:gd name="adj" fmla="val 6667"/>
            </a:avLst>
          </a:prstGeom>
          <a:solidFill>
            <a:srgbClr val="FFFBEB"/>
          </a:solidFill>
          <a:ln w="19050">
            <a:solidFill>
              <a:srgbClr val="FDE68A"/>
            </a:solidFill>
            <a:prstDash val="solid"/>
          </a:ln>
        </p:spPr>
      </p:sp>
      <p:sp>
        <p:nvSpPr>
          <p:cNvPr id="26" name="Text 24"/>
          <p:cNvSpPr/>
          <p:nvPr/>
        </p:nvSpPr>
        <p:spPr>
          <a:xfrm>
            <a:off x="6858000" y="4663440"/>
            <a:ext cx="438912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SMS / IVR Fallback</a:t>
            </a:r>
            <a:endParaRPr lang="en-US" sz="1100" dirty="0"/>
          </a:p>
        </p:txBody>
      </p:sp>
      <p:sp>
        <p:nvSpPr>
          <p:cNvPr id="27" name="Text 25"/>
          <p:cNvSpPr/>
          <p:nvPr/>
        </p:nvSpPr>
        <p:spPr>
          <a:xfrm>
            <a:off x="6858000" y="4983480"/>
            <a:ext cx="4389120" cy="640080"/>
          </a:xfrm>
          <a:prstGeom prst="rect">
            <a:avLst/>
          </a:prstGeom>
          <a:noFill/>
          <a:ln/>
        </p:spPr>
        <p:txBody>
          <a:bodyPr wrap="square" rtlCol="0" anchor="t"/>
          <a:lstStyle/>
          <a:p>
            <a:pPr indent="0" marL="0">
              <a:buNone/>
            </a:pPr>
            <a:r>
              <a:rPr lang="en-US" sz="1000" dirty="0">
                <a:solidFill>
                  <a:srgbClr val="334155"/>
                </a:solidFill>
                <a:latin typeface="Arial" pitchFamily="34" charset="0"/>
                <a:ea typeface="Arial" pitchFamily="34" charset="-122"/>
                <a:cs typeface="Arial" pitchFamily="34" charset="-120"/>
              </a:rPr>
              <a:t>USSD and toll-free IVR booking for non-smartphone rural areas.</a:t>
            </a:r>
            <a:endParaRPr lang="en-US" sz="1000" dirty="0"/>
          </a:p>
        </p:txBody>
      </p:sp>
      <p:sp>
        <p:nvSpPr>
          <p:cNvPr id="28" name="Text 26"/>
          <p:cNvSpPr/>
          <p:nvPr/>
        </p:nvSpPr>
        <p:spPr>
          <a:xfrm>
            <a:off x="731520" y="640080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ServiceHub India · Capstone Project · Slide 11 of 12</a:t>
            </a:r>
            <a:endParaRPr lang="en-US" sz="900" dirty="0"/>
          </a:p>
        </p:txBody>
      </p:sp>
      <p:sp>
        <p:nvSpPr>
          <p:cNvPr id="29" name="Text 27"/>
          <p:cNvSpPr/>
          <p:nvPr/>
        </p:nvSpPr>
        <p:spPr>
          <a:xfrm>
            <a:off x="8046720" y="6400800"/>
            <a:ext cx="33832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Academic Evaluation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CONCLUSION &amp; Q&amp;A</a:t>
            </a:r>
            <a:endParaRPr lang="en-US" sz="1000" dirty="0"/>
          </a:p>
        </p:txBody>
      </p:sp>
      <p:sp>
        <p:nvSpPr>
          <p:cNvPr id="4" name="Text 2"/>
          <p:cNvSpPr/>
          <p:nvPr/>
        </p:nvSpPr>
        <p:spPr>
          <a:xfrm>
            <a:off x="731520" y="640080"/>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Summary &amp; Technical Contributions</a:t>
            </a:r>
            <a:endParaRPr lang="en-US" sz="2200" dirty="0"/>
          </a:p>
        </p:txBody>
      </p:sp>
      <p:sp>
        <p:nvSpPr>
          <p:cNvPr id="5" name="Text 3"/>
          <p:cNvSpPr/>
          <p:nvPr/>
        </p:nvSpPr>
        <p:spPr>
          <a:xfrm>
            <a:off x="731520" y="1188720"/>
            <a:ext cx="1051560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A Production-Ready, Socially Impactful Digital Public Infrastructure Prototype</a:t>
            </a:r>
            <a:endParaRPr lang="en-US" sz="1200" dirty="0"/>
          </a:p>
        </p:txBody>
      </p:sp>
      <p:sp>
        <p:nvSpPr>
          <p:cNvPr id="6" name="Shape 4"/>
          <p:cNvSpPr/>
          <p:nvPr/>
        </p:nvSpPr>
        <p:spPr>
          <a:xfrm>
            <a:off x="731520" y="1645920"/>
            <a:ext cx="10698480" cy="0"/>
          </a:xfrm>
          <a:prstGeom prst="line">
            <a:avLst/>
          </a:prstGeom>
          <a:noFill/>
          <a:ln w="19050">
            <a:solidFill>
              <a:srgbClr val="E2E8F0"/>
            </a:solidFill>
            <a:prstDash val="solid"/>
          </a:ln>
        </p:spPr>
      </p:sp>
      <p:sp>
        <p:nvSpPr>
          <p:cNvPr id="7" name="Shape 5"/>
          <p:cNvSpPr/>
          <p:nvPr/>
        </p:nvSpPr>
        <p:spPr>
          <a:xfrm>
            <a:off x="731520" y="1920240"/>
            <a:ext cx="10698480" cy="777240"/>
          </a:xfrm>
          <a:prstGeom prst="roundRect">
            <a:avLst>
              <a:gd name="adj" fmla="val 9412"/>
            </a:avLst>
          </a:prstGeom>
          <a:solidFill>
            <a:srgbClr val="FFFFFF"/>
          </a:solidFill>
          <a:ln w="12700">
            <a:solidFill>
              <a:srgbClr val="E2E8F0"/>
            </a:solidFill>
            <a:prstDash val="solid"/>
          </a:ln>
        </p:spPr>
      </p:sp>
      <p:sp>
        <p:nvSpPr>
          <p:cNvPr id="8" name="Shape 6"/>
          <p:cNvSpPr/>
          <p:nvPr/>
        </p:nvSpPr>
        <p:spPr>
          <a:xfrm>
            <a:off x="914400" y="2212848"/>
            <a:ext cx="137160" cy="137160"/>
          </a:xfrm>
          <a:prstGeom prst="ellipse">
            <a:avLst/>
          </a:prstGeom>
          <a:solidFill>
            <a:srgbClr val="2563EB"/>
          </a:solidFill>
          <a:ln/>
        </p:spPr>
      </p:sp>
      <p:sp>
        <p:nvSpPr>
          <p:cNvPr id="9" name="Text 7"/>
          <p:cNvSpPr/>
          <p:nvPr/>
        </p:nvSpPr>
        <p:spPr>
          <a:xfrm>
            <a:off x="1143000" y="1993392"/>
            <a:ext cx="101955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Social Impact: Empowers rural agricultural mechanics with formal digital discovery and steady livelihoods.</a:t>
            </a:r>
            <a:endParaRPr lang="en-US" sz="1100" dirty="0"/>
          </a:p>
        </p:txBody>
      </p:sp>
      <p:sp>
        <p:nvSpPr>
          <p:cNvPr id="10" name="Shape 8"/>
          <p:cNvSpPr/>
          <p:nvPr/>
        </p:nvSpPr>
        <p:spPr>
          <a:xfrm>
            <a:off x="731520" y="2816352"/>
            <a:ext cx="10698480" cy="777240"/>
          </a:xfrm>
          <a:prstGeom prst="roundRect">
            <a:avLst>
              <a:gd name="adj" fmla="val 9412"/>
            </a:avLst>
          </a:prstGeom>
          <a:solidFill>
            <a:srgbClr val="FFFFFF"/>
          </a:solidFill>
          <a:ln w="12700">
            <a:solidFill>
              <a:srgbClr val="E2E8F0"/>
            </a:solidFill>
            <a:prstDash val="solid"/>
          </a:ln>
        </p:spPr>
      </p:sp>
      <p:sp>
        <p:nvSpPr>
          <p:cNvPr id="11" name="Shape 9"/>
          <p:cNvSpPr/>
          <p:nvPr/>
        </p:nvSpPr>
        <p:spPr>
          <a:xfrm>
            <a:off x="914400" y="3108960"/>
            <a:ext cx="137160" cy="137160"/>
          </a:xfrm>
          <a:prstGeom prst="ellipse">
            <a:avLst/>
          </a:prstGeom>
          <a:solidFill>
            <a:srgbClr val="2563EB"/>
          </a:solidFill>
          <a:ln/>
        </p:spPr>
      </p:sp>
      <p:sp>
        <p:nvSpPr>
          <p:cNvPr id="12" name="Text 10"/>
          <p:cNvSpPr/>
          <p:nvPr/>
        </p:nvSpPr>
        <p:spPr>
          <a:xfrm>
            <a:off x="1143000" y="2889504"/>
            <a:ext cx="101955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Life-Saving Design: Sets a new standard by prioritizing safety-first emergency guidance over commercial monetisation.</a:t>
            </a:r>
            <a:endParaRPr lang="en-US" sz="1100" dirty="0"/>
          </a:p>
        </p:txBody>
      </p:sp>
      <p:sp>
        <p:nvSpPr>
          <p:cNvPr id="13" name="Shape 11"/>
          <p:cNvSpPr/>
          <p:nvPr/>
        </p:nvSpPr>
        <p:spPr>
          <a:xfrm>
            <a:off x="731520" y="3712464"/>
            <a:ext cx="10698480" cy="777240"/>
          </a:xfrm>
          <a:prstGeom prst="roundRect">
            <a:avLst>
              <a:gd name="adj" fmla="val 9412"/>
            </a:avLst>
          </a:prstGeom>
          <a:solidFill>
            <a:srgbClr val="FFFFFF"/>
          </a:solidFill>
          <a:ln w="12700">
            <a:solidFill>
              <a:srgbClr val="E2E8F0"/>
            </a:solidFill>
            <a:prstDash val="solid"/>
          </a:ln>
        </p:spPr>
      </p:sp>
      <p:sp>
        <p:nvSpPr>
          <p:cNvPr id="14" name="Shape 12"/>
          <p:cNvSpPr/>
          <p:nvPr/>
        </p:nvSpPr>
        <p:spPr>
          <a:xfrm>
            <a:off x="914400" y="4005072"/>
            <a:ext cx="137160" cy="137160"/>
          </a:xfrm>
          <a:prstGeom prst="ellipse">
            <a:avLst/>
          </a:prstGeom>
          <a:solidFill>
            <a:srgbClr val="2563EB"/>
          </a:solidFill>
          <a:ln/>
        </p:spPr>
      </p:sp>
      <p:sp>
        <p:nvSpPr>
          <p:cNvPr id="15" name="Text 13"/>
          <p:cNvSpPr/>
          <p:nvPr/>
        </p:nvSpPr>
        <p:spPr>
          <a:xfrm>
            <a:off x="1143000" y="3785616"/>
            <a:ext cx="101955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Engineering Rigor: Modern React 19 architecture with type-safe backend, atomic persistence, and responsive UI.</a:t>
            </a:r>
            <a:endParaRPr lang="en-US" sz="1100" dirty="0"/>
          </a:p>
        </p:txBody>
      </p:sp>
      <p:sp>
        <p:nvSpPr>
          <p:cNvPr id="16" name="Shape 14"/>
          <p:cNvSpPr/>
          <p:nvPr/>
        </p:nvSpPr>
        <p:spPr>
          <a:xfrm>
            <a:off x="731520" y="4608576"/>
            <a:ext cx="10698480" cy="777240"/>
          </a:xfrm>
          <a:prstGeom prst="roundRect">
            <a:avLst>
              <a:gd name="adj" fmla="val 9412"/>
            </a:avLst>
          </a:prstGeom>
          <a:solidFill>
            <a:srgbClr val="FFFFFF"/>
          </a:solidFill>
          <a:ln w="12700">
            <a:solidFill>
              <a:srgbClr val="E2E8F0"/>
            </a:solidFill>
            <a:prstDash val="solid"/>
          </a:ln>
        </p:spPr>
      </p:sp>
      <p:sp>
        <p:nvSpPr>
          <p:cNvPr id="17" name="Shape 15"/>
          <p:cNvSpPr/>
          <p:nvPr/>
        </p:nvSpPr>
        <p:spPr>
          <a:xfrm>
            <a:off x="914400" y="4901184"/>
            <a:ext cx="137160" cy="137160"/>
          </a:xfrm>
          <a:prstGeom prst="ellipse">
            <a:avLst/>
          </a:prstGeom>
          <a:solidFill>
            <a:srgbClr val="2563EB"/>
          </a:solidFill>
          <a:ln/>
        </p:spPr>
      </p:sp>
      <p:sp>
        <p:nvSpPr>
          <p:cNvPr id="18" name="Text 16"/>
          <p:cNvSpPr/>
          <p:nvPr/>
        </p:nvSpPr>
        <p:spPr>
          <a:xfrm>
            <a:off x="1143000" y="4681728"/>
            <a:ext cx="10195560" cy="64008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Ready for Demonstration: Fully functional prototype deployed and ready for live scenario testing.</a:t>
            </a:r>
            <a:endParaRPr lang="en-US" sz="1100" dirty="0"/>
          </a:p>
        </p:txBody>
      </p:sp>
      <p:sp>
        <p:nvSpPr>
          <p:cNvPr id="19" name="Shape 17"/>
          <p:cNvSpPr/>
          <p:nvPr/>
        </p:nvSpPr>
        <p:spPr>
          <a:xfrm>
            <a:off x="731520" y="5486400"/>
            <a:ext cx="10698480" cy="594360"/>
          </a:xfrm>
          <a:prstGeom prst="roundRect">
            <a:avLst>
              <a:gd name="adj" fmla="val 12308"/>
            </a:avLst>
          </a:prstGeom>
          <a:solidFill>
            <a:srgbClr val="0F172A"/>
          </a:solidFill>
          <a:ln/>
        </p:spPr>
      </p:sp>
      <p:sp>
        <p:nvSpPr>
          <p:cNvPr id="20" name="Text 18"/>
          <p:cNvSpPr/>
          <p:nvPr/>
        </p:nvSpPr>
        <p:spPr>
          <a:xfrm>
            <a:off x="914400" y="5486400"/>
            <a:ext cx="10332720" cy="5943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Thank you for your time and evaluation. We are now open for Questions &amp; Live Demonstration.</a:t>
            </a:r>
            <a:endParaRPr lang="en-US" sz="1100" dirty="0"/>
          </a:p>
        </p:txBody>
      </p:sp>
      <p:sp>
        <p:nvSpPr>
          <p:cNvPr id="21" name="Text 19"/>
          <p:cNvSpPr/>
          <p:nvPr/>
        </p:nvSpPr>
        <p:spPr>
          <a:xfrm>
            <a:off x="731520" y="640080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ServiceHub India · Capstone Project · Slide 12 of 12</a:t>
            </a:r>
            <a:endParaRPr lang="en-US" sz="900" dirty="0"/>
          </a:p>
        </p:txBody>
      </p:sp>
      <p:sp>
        <p:nvSpPr>
          <p:cNvPr id="22" name="Text 20"/>
          <p:cNvSpPr/>
          <p:nvPr/>
        </p:nvSpPr>
        <p:spPr>
          <a:xfrm>
            <a:off x="8046720" y="6400800"/>
            <a:ext cx="33832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Academic Evaluation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ServiceHub India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ServiceHub India - Project Presentation &amp; Defense Deck</dc:title>
  <dc:subject>On-Demand Local &amp; Rural Services Marketplace</dc:subject>
  <dc:creator>ServiceHub India Capstone Team</dc:creator>
  <cp:lastModifiedBy>ServiceHub India Capstone Team</cp:lastModifiedBy>
  <cp:revision>1</cp:revision>
  <dcterms:created xsi:type="dcterms:W3CDTF">2026-10-25T17:59:04Z</dcterms:created>
  <dcterms:modified xsi:type="dcterms:W3CDTF">2026-10-25T17:59:04Z</dcterms:modified>
</cp:coreProperties>
</file>